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4896" r:id="rId2"/>
    <p:sldId id="4907" r:id="rId3"/>
    <p:sldId id="4905" r:id="rId4"/>
    <p:sldId id="4893" r:id="rId5"/>
    <p:sldId id="4892" r:id="rId6"/>
    <p:sldId id="4886" r:id="rId7"/>
    <p:sldId id="4908" r:id="rId8"/>
    <p:sldId id="4911" r:id="rId9"/>
    <p:sldId id="4912" r:id="rId10"/>
    <p:sldId id="4909" r:id="rId11"/>
    <p:sldId id="4890" r:id="rId12"/>
    <p:sldId id="4899" r:id="rId13"/>
    <p:sldId id="4906" r:id="rId14"/>
    <p:sldId id="490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175317-AC2D-8347-D088-655A6B0DC092}" name="Youngji Jo (AgileOne)" initials="Y(" userId="S::youngji.jo@gatesfoundation.org::26943d54-393c-4569-b3de-84f180f3d8cb" providerId="AD"/>
  <p188:author id="{6993635E-B58B-6CA8-00D5-FB9E84CA0D00}" name="Stewart Chang" initials="SC" userId="S::stewart.chang@gatesfoundation.org::b24de3eb-1714-48cb-a9a5-1b5ee58927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811" autoAdjust="0"/>
  </p:normalViewPr>
  <p:slideViewPr>
    <p:cSldViewPr snapToGrid="0" snapToObjects="1">
      <p:cViewPr varScale="1">
        <p:scale>
          <a:sx n="96" d="100"/>
          <a:sy n="96" d="100"/>
        </p:scale>
        <p:origin x="10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76B93-9F95-42BD-A8F8-3D10D5AE87C3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36367-B1E0-4B67-ABD0-DFBB1B380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Growth rate inflection points were observed when a variant reached around 60% prevalence.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36367-B1E0-4B67-ABD0-DFBB1B380F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98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36367-B1E0-4B67-ABD0-DFBB1B380F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6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Headline 1 here</a:t>
            </a:r>
            <a:br>
              <a:rPr lang="en-US" dirty="0"/>
            </a:br>
            <a:r>
              <a:rPr lang="en-US" dirty="0"/>
              <a:t>Headline 2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5935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Presenter’s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371600" y="4597400"/>
            <a:ext cx="6472238" cy="47783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62561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73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7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171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6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6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663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03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9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1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515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42036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2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561514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39340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128252"/>
            <a:ext cx="5486400" cy="7188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5137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5137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3C7E7-8BAA-B64C-84A4-EA5BDD8A7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1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179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3C7E7-8BAA-B64C-84A4-EA5BDD8A7F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8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A9F9-87A6-459E-8C7F-38331A0D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99539"/>
            <a:ext cx="7886700" cy="648805"/>
          </a:xfrm>
        </p:spPr>
        <p:txBody>
          <a:bodyPr>
            <a:noAutofit/>
          </a:bodyPr>
          <a:lstStyle/>
          <a:p>
            <a:r>
              <a:rPr lang="en-US" sz="3200" b="1" dirty="0"/>
              <a:t>3) COVID-19 variants growth rates and comparison between </a:t>
            </a:r>
            <a:br>
              <a:rPr lang="en-US" sz="3200" b="1" dirty="0"/>
            </a:br>
            <a:r>
              <a:rPr lang="en-US" sz="3200" b="1" dirty="0"/>
              <a:t>South Korea and the United Kingdom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9A0ED-6531-464F-9AB6-09FFC341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864AA-15E1-4D64-B92C-392D6776B3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2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3A423-3143-0D40-90BD-4AB3454F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015"/>
            <a:ext cx="9144000" cy="60639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1D5FF9-E5D5-6A9C-B1D5-846CFD32DA1C}"/>
              </a:ext>
            </a:extLst>
          </p:cNvPr>
          <p:cNvSpPr/>
          <p:nvPr/>
        </p:nvSpPr>
        <p:spPr>
          <a:xfrm>
            <a:off x="6200775" y="1560856"/>
            <a:ext cx="762000" cy="46208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7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8098E2-D046-A459-B2ED-036DF8D9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5694"/>
            <a:ext cx="9144000" cy="6026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1A4161-FBED-D20E-6B38-BCEEC319C318}"/>
              </a:ext>
            </a:extLst>
          </p:cNvPr>
          <p:cNvSpPr/>
          <p:nvPr/>
        </p:nvSpPr>
        <p:spPr>
          <a:xfrm>
            <a:off x="3667539" y="1560856"/>
            <a:ext cx="3841474" cy="45666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C2FA6-F7D1-2C0C-EEBE-8020AE4C1BCF}"/>
              </a:ext>
            </a:extLst>
          </p:cNvPr>
          <p:cNvSpPr txBox="1"/>
          <p:nvPr/>
        </p:nvSpPr>
        <p:spPr>
          <a:xfrm>
            <a:off x="5256557" y="5004582"/>
            <a:ext cx="3425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SK does not collect daily COVID-19 case data from Oct 2023</a:t>
            </a:r>
          </a:p>
        </p:txBody>
      </p:sp>
    </p:spTree>
    <p:extLst>
      <p:ext uri="{BB962C8B-B14F-4D97-AF65-F5344CB8AC3E}">
        <p14:creationId xmlns:p14="http://schemas.microsoft.com/office/powerpoint/2010/main" val="2437238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10">
            <a:extLst>
              <a:ext uri="{FF2B5EF4-FFF2-40B4-BE49-F238E27FC236}">
                <a16:creationId xmlns:a16="http://schemas.microsoft.com/office/drawing/2014/main" id="{9C8EB1E2-0CCA-7755-82CF-A60DA5BE3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" y="1017270"/>
            <a:ext cx="6626225" cy="293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11">
            <a:extLst>
              <a:ext uri="{FF2B5EF4-FFF2-40B4-BE49-F238E27FC236}">
                <a16:creationId xmlns:a16="http://schemas.microsoft.com/office/drawing/2014/main" id="{35EC6AD1-16F5-054D-FD46-AD6D0EE13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98"/>
          <a:stretch/>
        </p:blipFill>
        <p:spPr bwMode="auto">
          <a:xfrm>
            <a:off x="4427220" y="1025345"/>
            <a:ext cx="3949700" cy="297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4">
            <a:extLst>
              <a:ext uri="{FF2B5EF4-FFF2-40B4-BE49-F238E27FC236}">
                <a16:creationId xmlns:a16="http://schemas.microsoft.com/office/drawing/2014/main" id="{CDAEFD53-44AD-7101-83AF-FF6D1BE9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CE8AB1-1DF2-030E-6086-7B233E584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262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32BED85-CB52-D7E9-3B81-0D31DA96F7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66" t="6205" b="8173"/>
          <a:stretch/>
        </p:blipFill>
        <p:spPr bwMode="auto">
          <a:xfrm>
            <a:off x="636270" y="4026219"/>
            <a:ext cx="2705735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837E63-1CFE-DD4F-186C-6147B892CC38}"/>
              </a:ext>
            </a:extLst>
          </p:cNvPr>
          <p:cNvSpPr txBox="1"/>
          <p:nvPr/>
        </p:nvSpPr>
        <p:spPr>
          <a:xfrm>
            <a:off x="3985260" y="4466867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Variants share transition (Jul, 2023- Jan, 2024)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dirty="0"/>
              <a:t>SK: XBB.1 &gt; HK &gt; HK.3 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</a:rPr>
              <a:t>UK: XBB.1.16 &gt; EG</a:t>
            </a:r>
            <a:r>
              <a:rPr lang="en-US" altLang="en-US" dirty="0"/>
              <a:t>.5.1 &gt; JN1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lang="en-US" alt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332074-9C10-7888-F6E2-87186761DC6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85357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GISAD data in South Korea and the United Kingdom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A6EA7-BAA7-8552-4F33-1248572422F6}"/>
              </a:ext>
            </a:extLst>
          </p:cNvPr>
          <p:cNvSpPr/>
          <p:nvPr/>
        </p:nvSpPr>
        <p:spPr>
          <a:xfrm>
            <a:off x="4698207" y="1314132"/>
            <a:ext cx="731044" cy="2343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0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CCC94DE5-8031-71D7-8290-BE1DA9401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019" y="876301"/>
            <a:ext cx="6729411" cy="59816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D86FA-8774-CC01-F424-DAC7121C2AB7}"/>
              </a:ext>
            </a:extLst>
          </p:cNvPr>
          <p:cNvSpPr txBox="1">
            <a:spLocks/>
          </p:cNvSpPr>
          <p:nvPr/>
        </p:nvSpPr>
        <p:spPr>
          <a:xfrm>
            <a:off x="510540" y="183198"/>
            <a:ext cx="8229600" cy="85357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The United Kingdom Covid-19 variants </a:t>
            </a:r>
          </a:p>
          <a:p>
            <a:r>
              <a:rPr lang="en-US" sz="2800" dirty="0"/>
              <a:t>(Jul 2023-Jan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2D74BD-5E98-6B0E-0897-3B4711F941F2}"/>
              </a:ext>
            </a:extLst>
          </p:cNvPr>
          <p:cNvSpPr txBox="1"/>
          <p:nvPr/>
        </p:nvSpPr>
        <p:spPr>
          <a:xfrm>
            <a:off x="0" y="6211669"/>
            <a:ext cx="227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Based on codes developed by Drs. Chris Overton and Rob Paton and data from GSAID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76CB6-11B1-29A2-4D1D-E903BBC741D9}"/>
              </a:ext>
            </a:extLst>
          </p:cNvPr>
          <p:cNvSpPr txBox="1"/>
          <p:nvPr/>
        </p:nvSpPr>
        <p:spPr>
          <a:xfrm>
            <a:off x="295910" y="739775"/>
            <a:ext cx="1473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BA.2</a:t>
            </a:r>
          </a:p>
          <a:p>
            <a:r>
              <a:rPr lang="en-US" dirty="0"/>
              <a:t>EG.5.1</a:t>
            </a:r>
          </a:p>
          <a:p>
            <a:r>
              <a:rPr lang="en-US" dirty="0"/>
              <a:t>FU7</a:t>
            </a:r>
          </a:p>
          <a:p>
            <a:r>
              <a:rPr lang="en-US" dirty="0">
                <a:solidFill>
                  <a:srgbClr val="FF0000"/>
                </a:solidFill>
              </a:rPr>
              <a:t>HK</a:t>
            </a:r>
          </a:p>
          <a:p>
            <a:r>
              <a:rPr lang="en-US" dirty="0">
                <a:solidFill>
                  <a:srgbClr val="FF0000"/>
                </a:solidFill>
              </a:rPr>
              <a:t>HK.3</a:t>
            </a:r>
          </a:p>
          <a:p>
            <a:r>
              <a:rPr lang="en-US" dirty="0">
                <a:solidFill>
                  <a:srgbClr val="FF0000"/>
                </a:solidFill>
              </a:rPr>
              <a:t>HV.1</a:t>
            </a:r>
          </a:p>
          <a:p>
            <a:r>
              <a:rPr lang="en-US" dirty="0"/>
              <a:t>JD.1.1</a:t>
            </a:r>
          </a:p>
          <a:p>
            <a:r>
              <a:rPr lang="en-US" dirty="0"/>
              <a:t>JG.3</a:t>
            </a:r>
          </a:p>
          <a:p>
            <a:r>
              <a:rPr lang="en-US" dirty="0">
                <a:solidFill>
                  <a:srgbClr val="FF0000"/>
                </a:solidFill>
              </a:rPr>
              <a:t>JN</a:t>
            </a:r>
          </a:p>
          <a:p>
            <a:r>
              <a:rPr lang="en-US" dirty="0">
                <a:solidFill>
                  <a:srgbClr val="FF0000"/>
                </a:solidFill>
              </a:rPr>
              <a:t>JN.1</a:t>
            </a:r>
          </a:p>
          <a:p>
            <a:r>
              <a:rPr lang="en-US" dirty="0">
                <a:solidFill>
                  <a:srgbClr val="FF0000"/>
                </a:solidFill>
              </a:rPr>
              <a:t>JN.1.1</a:t>
            </a:r>
          </a:p>
          <a:p>
            <a:r>
              <a:rPr lang="en-US" dirty="0">
                <a:solidFill>
                  <a:srgbClr val="FF0000"/>
                </a:solidFill>
              </a:rPr>
              <a:t>JN.1.4</a:t>
            </a:r>
          </a:p>
          <a:p>
            <a:r>
              <a:rPr lang="en-US" dirty="0"/>
              <a:t>JN.2</a:t>
            </a:r>
          </a:p>
          <a:p>
            <a:r>
              <a:rPr lang="en-US" dirty="0"/>
              <a:t>JN.3</a:t>
            </a:r>
          </a:p>
          <a:p>
            <a:r>
              <a:rPr lang="en-US" dirty="0"/>
              <a:t>JN.6</a:t>
            </a:r>
          </a:p>
          <a:p>
            <a:r>
              <a:rPr lang="en-US" dirty="0">
                <a:solidFill>
                  <a:srgbClr val="FF0000"/>
                </a:solidFill>
              </a:rPr>
              <a:t>XBB.1</a:t>
            </a:r>
          </a:p>
          <a:p>
            <a:r>
              <a:rPr lang="en-US" dirty="0"/>
              <a:t>XBB.1.16</a:t>
            </a:r>
          </a:p>
          <a:p>
            <a:r>
              <a:rPr lang="en-US" dirty="0"/>
              <a:t>XBB.2</a:t>
            </a:r>
          </a:p>
          <a:p>
            <a:r>
              <a:rPr lang="en-US" dirty="0"/>
              <a:t>XBB.2.3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709419-13D8-6D9F-653E-1FF9C03A81CD}"/>
              </a:ext>
            </a:extLst>
          </p:cNvPr>
          <p:cNvSpPr/>
          <p:nvPr/>
        </p:nvSpPr>
        <p:spPr>
          <a:xfrm>
            <a:off x="5696673" y="3951066"/>
            <a:ext cx="841094" cy="693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6C5DD8-4616-432C-91D9-07DF29813141}"/>
              </a:ext>
            </a:extLst>
          </p:cNvPr>
          <p:cNvSpPr/>
          <p:nvPr/>
        </p:nvSpPr>
        <p:spPr>
          <a:xfrm>
            <a:off x="5696673" y="995225"/>
            <a:ext cx="841094" cy="693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DD99B-1CD8-DC40-B879-7C301C72839A}"/>
              </a:ext>
            </a:extLst>
          </p:cNvPr>
          <p:cNvSpPr/>
          <p:nvPr/>
        </p:nvSpPr>
        <p:spPr>
          <a:xfrm>
            <a:off x="5696673" y="4636092"/>
            <a:ext cx="841094" cy="6496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34DC33-773D-B651-FAF9-0DAD2AE8D9EA}"/>
              </a:ext>
            </a:extLst>
          </p:cNvPr>
          <p:cNvSpPr/>
          <p:nvPr/>
        </p:nvSpPr>
        <p:spPr>
          <a:xfrm>
            <a:off x="5696673" y="1688328"/>
            <a:ext cx="841094" cy="693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DB806-272D-33D8-AEA8-B05DDA2630B6}"/>
              </a:ext>
            </a:extLst>
          </p:cNvPr>
          <p:cNvSpPr/>
          <p:nvPr/>
        </p:nvSpPr>
        <p:spPr>
          <a:xfrm>
            <a:off x="4834078" y="996387"/>
            <a:ext cx="841094" cy="693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66B93D-3432-372B-2E06-AFEF50D9D4FF}"/>
              </a:ext>
            </a:extLst>
          </p:cNvPr>
          <p:cNvSpPr/>
          <p:nvPr/>
        </p:nvSpPr>
        <p:spPr>
          <a:xfrm>
            <a:off x="4834078" y="1688327"/>
            <a:ext cx="841094" cy="6931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F0300F-788A-4A47-5BB5-CF3210B3E8FE}"/>
              </a:ext>
            </a:extLst>
          </p:cNvPr>
          <p:cNvSpPr/>
          <p:nvPr/>
        </p:nvSpPr>
        <p:spPr>
          <a:xfrm>
            <a:off x="4855579" y="4644169"/>
            <a:ext cx="841094" cy="641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686BE4-DCFA-6199-A9C0-B430A473461F}"/>
              </a:ext>
            </a:extLst>
          </p:cNvPr>
          <p:cNvSpPr/>
          <p:nvPr/>
        </p:nvSpPr>
        <p:spPr>
          <a:xfrm>
            <a:off x="4855579" y="3951066"/>
            <a:ext cx="841094" cy="685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7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CE011D29-88DA-EDC6-092C-F04B993E0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065" y="850159"/>
            <a:ext cx="6772275" cy="601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95703B-0645-2BD5-8D45-FCF2343C1C6A}"/>
              </a:ext>
            </a:extLst>
          </p:cNvPr>
          <p:cNvSpPr txBox="1">
            <a:spLocks/>
          </p:cNvSpPr>
          <p:nvPr/>
        </p:nvSpPr>
        <p:spPr>
          <a:xfrm>
            <a:off x="457200" y="103188"/>
            <a:ext cx="8229600" cy="85357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South Korea Covid-19 variants </a:t>
            </a:r>
          </a:p>
          <a:p>
            <a:r>
              <a:rPr lang="en-US" sz="2400" dirty="0"/>
              <a:t>(Jul 2023-Jan 2024)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ACEDC-0A1F-6BE5-9441-658D0EB9FF95}"/>
              </a:ext>
            </a:extLst>
          </p:cNvPr>
          <p:cNvSpPr txBox="1"/>
          <p:nvPr/>
        </p:nvSpPr>
        <p:spPr>
          <a:xfrm>
            <a:off x="0" y="6182975"/>
            <a:ext cx="227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Based on codes developed by Drs. Chris Overton and Rob Paton and data from GSAID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9FFBC-3678-69F9-46FA-01404580BF15}"/>
              </a:ext>
            </a:extLst>
          </p:cNvPr>
          <p:cNvSpPr txBox="1"/>
          <p:nvPr/>
        </p:nvSpPr>
        <p:spPr>
          <a:xfrm>
            <a:off x="304800" y="739775"/>
            <a:ext cx="1473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HK</a:t>
            </a:r>
          </a:p>
          <a:p>
            <a:r>
              <a:rPr lang="en-US" dirty="0"/>
              <a:t>HK.2</a:t>
            </a:r>
          </a:p>
          <a:p>
            <a:r>
              <a:rPr lang="en-US" dirty="0">
                <a:solidFill>
                  <a:srgbClr val="FF0000"/>
                </a:solidFill>
              </a:rPr>
              <a:t>HK.3</a:t>
            </a:r>
          </a:p>
          <a:p>
            <a:r>
              <a:rPr lang="en-US" dirty="0"/>
              <a:t>HK.3.1</a:t>
            </a:r>
          </a:p>
          <a:p>
            <a:r>
              <a:rPr lang="en-US" dirty="0"/>
              <a:t>HK.3.2</a:t>
            </a:r>
          </a:p>
          <a:p>
            <a:r>
              <a:rPr lang="en-US" dirty="0">
                <a:solidFill>
                  <a:srgbClr val="FF0000"/>
                </a:solidFill>
              </a:rPr>
              <a:t>HV.1</a:t>
            </a:r>
          </a:p>
          <a:p>
            <a:r>
              <a:rPr lang="en-US" dirty="0">
                <a:solidFill>
                  <a:srgbClr val="FF0000"/>
                </a:solidFill>
              </a:rPr>
              <a:t>JN</a:t>
            </a:r>
          </a:p>
          <a:p>
            <a:r>
              <a:rPr lang="en-US" dirty="0">
                <a:solidFill>
                  <a:srgbClr val="FF0000"/>
                </a:solidFill>
              </a:rPr>
              <a:t>JN.1</a:t>
            </a:r>
          </a:p>
          <a:p>
            <a:r>
              <a:rPr lang="en-US" dirty="0">
                <a:solidFill>
                  <a:srgbClr val="FF0000"/>
                </a:solidFill>
              </a:rPr>
              <a:t>JN.1.1</a:t>
            </a:r>
          </a:p>
          <a:p>
            <a:r>
              <a:rPr lang="en-US" dirty="0">
                <a:solidFill>
                  <a:srgbClr val="FF0000"/>
                </a:solidFill>
              </a:rPr>
              <a:t>JN.1.4</a:t>
            </a:r>
          </a:p>
          <a:p>
            <a:r>
              <a:rPr lang="en-US" dirty="0"/>
              <a:t>KB</a:t>
            </a:r>
          </a:p>
          <a:p>
            <a:r>
              <a:rPr lang="en-US" dirty="0">
                <a:solidFill>
                  <a:srgbClr val="FF0000"/>
                </a:solidFill>
              </a:rPr>
              <a:t>XBB.1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701394-3867-3436-1EAA-E8F221AF6257}"/>
              </a:ext>
            </a:extLst>
          </p:cNvPr>
          <p:cNvSpPr/>
          <p:nvPr/>
        </p:nvSpPr>
        <p:spPr>
          <a:xfrm>
            <a:off x="4391306" y="3984460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63D4D-A527-2C4F-B501-E7A7987E010B}"/>
              </a:ext>
            </a:extLst>
          </p:cNvPr>
          <p:cNvSpPr/>
          <p:nvPr/>
        </p:nvSpPr>
        <p:spPr>
          <a:xfrm>
            <a:off x="4391306" y="1007837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CBC716-C491-64A7-7C40-C439DA9878F1}"/>
              </a:ext>
            </a:extLst>
          </p:cNvPr>
          <p:cNvSpPr/>
          <p:nvPr/>
        </p:nvSpPr>
        <p:spPr>
          <a:xfrm>
            <a:off x="2272667" y="1007836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267A8F-12A4-3509-CEC2-9668CCF333BA}"/>
              </a:ext>
            </a:extLst>
          </p:cNvPr>
          <p:cNvSpPr/>
          <p:nvPr/>
        </p:nvSpPr>
        <p:spPr>
          <a:xfrm>
            <a:off x="2272667" y="3984459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C274CF-2A3C-B387-FBD0-E6DE8C70C3BB}"/>
              </a:ext>
            </a:extLst>
          </p:cNvPr>
          <p:cNvSpPr/>
          <p:nvPr/>
        </p:nvSpPr>
        <p:spPr>
          <a:xfrm>
            <a:off x="5424415" y="4838036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7DB05A-E8B4-8A64-CA16-2ED0349F82B2}"/>
              </a:ext>
            </a:extLst>
          </p:cNvPr>
          <p:cNvSpPr/>
          <p:nvPr/>
        </p:nvSpPr>
        <p:spPr>
          <a:xfrm>
            <a:off x="4391930" y="1861414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F0E45D-95E1-ECC9-6189-7351C833756B}"/>
              </a:ext>
            </a:extLst>
          </p:cNvPr>
          <p:cNvSpPr/>
          <p:nvPr/>
        </p:nvSpPr>
        <p:spPr>
          <a:xfrm>
            <a:off x="5446648" y="1861413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9D4440-C993-C43D-8640-8D62B56962C9}"/>
              </a:ext>
            </a:extLst>
          </p:cNvPr>
          <p:cNvSpPr/>
          <p:nvPr/>
        </p:nvSpPr>
        <p:spPr>
          <a:xfrm>
            <a:off x="4392072" y="4838035"/>
            <a:ext cx="1056512" cy="85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51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arison of graphs with dots&#10;&#10;Description automatically generated with medium confidence">
            <a:extLst>
              <a:ext uri="{FF2B5EF4-FFF2-40B4-BE49-F238E27FC236}">
                <a16:creationId xmlns:a16="http://schemas.microsoft.com/office/drawing/2014/main" id="{F8447A38-76E6-4974-853E-23653123E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Description automatically generated">
            <a:extLst>
              <a:ext uri="{FF2B5EF4-FFF2-40B4-BE49-F238E27FC236}">
                <a16:creationId xmlns:a16="http://schemas.microsoft.com/office/drawing/2014/main" id="{3F3DF375-FFAA-6F6A-CC82-4B602610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1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Description automatically generated">
            <a:extLst>
              <a:ext uri="{FF2B5EF4-FFF2-40B4-BE49-F238E27FC236}">
                <a16:creationId xmlns:a16="http://schemas.microsoft.com/office/drawing/2014/main" id="{11CF77CD-50FA-BFB8-DA32-7DF91ECDA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98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Description automatically generated">
            <a:extLst>
              <a:ext uri="{FF2B5EF4-FFF2-40B4-BE49-F238E27FC236}">
                <a16:creationId xmlns:a16="http://schemas.microsoft.com/office/drawing/2014/main" id="{74BD7E13-92E6-F6CF-A296-A7122FF59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04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B19E20B-520E-D361-3D88-35B6FA0C93B4}"/>
              </a:ext>
            </a:extLst>
          </p:cNvPr>
          <p:cNvSpPr txBox="1"/>
          <p:nvPr/>
        </p:nvSpPr>
        <p:spPr>
          <a:xfrm>
            <a:off x="56162" y="5234633"/>
            <a:ext cx="88695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Total 23 variants were observed from Jul 2023 – Jan 2024 in SK and UK; 12 variants in SK and 19 variants in UK (8 variants in common): </a:t>
            </a:r>
            <a:r>
              <a:rPr lang="en-US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JN.1.4, JN.1.1, JN.1, HV.1, JN, HK.3, XBB.1, HK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/>
              <a:t>On Dec 31, 2023, SK has 3 dominant variants (HK3, JN1.4, and JN.1) and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/>
              <a:t>      UK has a dominant variant with JN.1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22809E-02EE-D167-19A5-C12BD92C0D42}"/>
              </a:ext>
            </a:extLst>
          </p:cNvPr>
          <p:cNvSpPr txBox="1">
            <a:spLocks/>
          </p:cNvSpPr>
          <p:nvPr/>
        </p:nvSpPr>
        <p:spPr>
          <a:xfrm>
            <a:off x="485870" y="151811"/>
            <a:ext cx="8229600" cy="85357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Variants comparisons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FF3455-2CCC-6EB8-8CF4-7A516DB9F7FC}"/>
              </a:ext>
            </a:extLst>
          </p:cNvPr>
          <p:cNvGrpSpPr/>
          <p:nvPr/>
        </p:nvGrpSpPr>
        <p:grpSpPr>
          <a:xfrm>
            <a:off x="218899" y="854347"/>
            <a:ext cx="8544034" cy="4317447"/>
            <a:chOff x="218330" y="881003"/>
            <a:chExt cx="8544034" cy="431744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1F786F-A329-B198-4C16-BF847B55E3FE}"/>
                </a:ext>
              </a:extLst>
            </p:cNvPr>
            <p:cNvGrpSpPr/>
            <p:nvPr/>
          </p:nvGrpSpPr>
          <p:grpSpPr>
            <a:xfrm>
              <a:off x="218330" y="881003"/>
              <a:ext cx="8542896" cy="4310109"/>
              <a:chOff x="171825" y="1140780"/>
              <a:chExt cx="8542896" cy="4310109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2520CC7D-524F-6D1C-718E-D99D215F5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1825" y="1189608"/>
                <a:ext cx="4107704" cy="4212454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2265753-CAE5-6348-2032-2D79BC55D9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790" y="1140780"/>
                <a:ext cx="4202931" cy="4310109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77A4E26-7A6E-A9D4-CCEC-38138329EA12}"/>
                  </a:ext>
                </a:extLst>
              </p:cNvPr>
              <p:cNvSpPr/>
              <p:nvPr/>
            </p:nvSpPr>
            <p:spPr>
              <a:xfrm>
                <a:off x="4595811" y="4565650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22DB471-AE27-6014-9454-CA4ED7EC674F}"/>
                  </a:ext>
                </a:extLst>
              </p:cNvPr>
              <p:cNvSpPr/>
              <p:nvPr/>
            </p:nvSpPr>
            <p:spPr>
              <a:xfrm>
                <a:off x="4595811" y="4727575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C928C36-8A91-53B3-549A-23BE621E471E}"/>
                  </a:ext>
                </a:extLst>
              </p:cNvPr>
              <p:cNvSpPr/>
              <p:nvPr/>
            </p:nvSpPr>
            <p:spPr>
              <a:xfrm>
                <a:off x="4595811" y="4403725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65ECD2E-DB40-C81D-65E0-2036ED8F131D}"/>
                  </a:ext>
                </a:extLst>
              </p:cNvPr>
              <p:cNvSpPr/>
              <p:nvPr/>
            </p:nvSpPr>
            <p:spPr>
              <a:xfrm>
                <a:off x="4595811" y="3937931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FBF5955-5422-5845-47FE-BA4C06939522}"/>
                  </a:ext>
                </a:extLst>
              </p:cNvPr>
              <p:cNvSpPr/>
              <p:nvPr/>
            </p:nvSpPr>
            <p:spPr>
              <a:xfrm>
                <a:off x="4595811" y="2690168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05E5017-A3E6-A557-E54B-EAC89712790B}"/>
                  </a:ext>
                </a:extLst>
              </p:cNvPr>
              <p:cNvSpPr/>
              <p:nvPr/>
            </p:nvSpPr>
            <p:spPr>
              <a:xfrm>
                <a:off x="4595811" y="3776006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809FE5F-50CA-0594-68F6-68536F31230D}"/>
                  </a:ext>
                </a:extLst>
              </p:cNvPr>
              <p:cNvSpPr/>
              <p:nvPr/>
            </p:nvSpPr>
            <p:spPr>
              <a:xfrm>
                <a:off x="4595811" y="1892300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6A43D1-F3FC-9692-36ED-06535E12C58C}"/>
                  </a:ext>
                </a:extLst>
              </p:cNvPr>
              <p:cNvSpPr/>
              <p:nvPr/>
            </p:nvSpPr>
            <p:spPr>
              <a:xfrm>
                <a:off x="4595811" y="2525068"/>
                <a:ext cx="4073154" cy="16192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4D53F953-27C3-A7D2-E70A-C73FA292D638}"/>
                </a:ext>
              </a:extLst>
            </p:cNvPr>
            <p:cNvSpPr/>
            <p:nvPr/>
          </p:nvSpPr>
          <p:spPr>
            <a:xfrm>
              <a:off x="807027" y="1220579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D3D19CD4-CB6B-0C64-4215-5EF62613AF3D}"/>
                </a:ext>
              </a:extLst>
            </p:cNvPr>
            <p:cNvSpPr/>
            <p:nvPr/>
          </p:nvSpPr>
          <p:spPr>
            <a:xfrm>
              <a:off x="252880" y="3230178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83E3525B-C4D9-D60C-A674-76DBD6A6762B}"/>
                </a:ext>
              </a:extLst>
            </p:cNvPr>
            <p:cNvSpPr/>
            <p:nvPr/>
          </p:nvSpPr>
          <p:spPr>
            <a:xfrm>
              <a:off x="382774" y="3544988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75AC47D-8C66-6488-55CE-AADDAAA558D8}"/>
                </a:ext>
              </a:extLst>
            </p:cNvPr>
            <p:cNvGrpSpPr/>
            <p:nvPr/>
          </p:nvGrpSpPr>
          <p:grpSpPr>
            <a:xfrm>
              <a:off x="219468" y="888341"/>
              <a:ext cx="8542896" cy="4310109"/>
              <a:chOff x="171825" y="1140780"/>
              <a:chExt cx="8542896" cy="4310109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89F990C-6801-F902-9E77-B503A57FB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1825" y="1189608"/>
                <a:ext cx="4107704" cy="4212454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B31AAF1-E6F2-9BF9-71DA-DD1B4A592F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1790" y="1140780"/>
                <a:ext cx="4202931" cy="4310109"/>
              </a:xfrm>
              <a:prstGeom prst="rect">
                <a:avLst/>
              </a:prstGeom>
            </p:spPr>
          </p:pic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A52F596C-EBAE-229A-79E5-0378686BE130}"/>
                </a:ext>
              </a:extLst>
            </p:cNvPr>
            <p:cNvSpPr/>
            <p:nvPr/>
          </p:nvSpPr>
          <p:spPr>
            <a:xfrm>
              <a:off x="805889" y="1230032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0C6F82A0-F698-513C-D76A-9D20022400D5}"/>
                </a:ext>
              </a:extLst>
            </p:cNvPr>
            <p:cNvSpPr/>
            <p:nvPr/>
          </p:nvSpPr>
          <p:spPr>
            <a:xfrm>
              <a:off x="286292" y="3230177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F6340480-AD3B-9756-D414-118CE996A724}"/>
                </a:ext>
              </a:extLst>
            </p:cNvPr>
            <p:cNvSpPr/>
            <p:nvPr/>
          </p:nvSpPr>
          <p:spPr>
            <a:xfrm>
              <a:off x="382774" y="3544988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C891802A-B2A8-85AA-5A24-701D46214FEE}"/>
                </a:ext>
              </a:extLst>
            </p:cNvPr>
            <p:cNvSpPr/>
            <p:nvPr/>
          </p:nvSpPr>
          <p:spPr>
            <a:xfrm>
              <a:off x="577289" y="3706913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1E57F4C4-5C61-3C5A-29C4-0ECA1EA60E59}"/>
                </a:ext>
              </a:extLst>
            </p:cNvPr>
            <p:cNvSpPr/>
            <p:nvPr/>
          </p:nvSpPr>
          <p:spPr>
            <a:xfrm>
              <a:off x="347728" y="3840079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02EF8AE2-061B-BD82-CAA0-B128C2D53FFF}"/>
                </a:ext>
              </a:extLst>
            </p:cNvPr>
            <p:cNvSpPr/>
            <p:nvPr/>
          </p:nvSpPr>
          <p:spPr>
            <a:xfrm>
              <a:off x="347727" y="4305873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6FDB21AA-44DA-F774-8243-CA62789642C0}"/>
                </a:ext>
              </a:extLst>
            </p:cNvPr>
            <p:cNvSpPr/>
            <p:nvPr/>
          </p:nvSpPr>
          <p:spPr>
            <a:xfrm>
              <a:off x="4711998" y="1682377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BCD3CCCE-33B3-74DF-F943-FDA38DF3489A}"/>
                </a:ext>
              </a:extLst>
            </p:cNvPr>
            <p:cNvSpPr/>
            <p:nvPr/>
          </p:nvSpPr>
          <p:spPr>
            <a:xfrm>
              <a:off x="5183053" y="2299522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row: Right 46">
              <a:extLst>
                <a:ext uri="{FF2B5EF4-FFF2-40B4-BE49-F238E27FC236}">
                  <a16:creationId xmlns:a16="http://schemas.microsoft.com/office/drawing/2014/main" id="{4389BE27-5FE8-EAE6-ECF2-5D38B190BBA3}"/>
                </a:ext>
              </a:extLst>
            </p:cNvPr>
            <p:cNvSpPr/>
            <p:nvPr/>
          </p:nvSpPr>
          <p:spPr>
            <a:xfrm>
              <a:off x="4596560" y="2470737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26E47366-1402-4CC7-BB4E-6BCD6C10A528}"/>
                </a:ext>
              </a:extLst>
            </p:cNvPr>
            <p:cNvSpPr/>
            <p:nvPr/>
          </p:nvSpPr>
          <p:spPr>
            <a:xfrm>
              <a:off x="4614526" y="3544987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39CD05C3-6482-BDC5-801D-A183BBB558B9}"/>
                </a:ext>
              </a:extLst>
            </p:cNvPr>
            <p:cNvSpPr/>
            <p:nvPr/>
          </p:nvSpPr>
          <p:spPr>
            <a:xfrm>
              <a:off x="4676223" y="4197165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C4CB2C44-4F80-A9C6-D6A7-5B5E73600EB0}"/>
                </a:ext>
              </a:extLst>
            </p:cNvPr>
            <p:cNvSpPr/>
            <p:nvPr/>
          </p:nvSpPr>
          <p:spPr>
            <a:xfrm>
              <a:off x="4791661" y="4342468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4430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15354-D06B-7755-39E7-2E5B49017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A74FD1-04CF-E7C4-01D4-B5CDB75E6485}"/>
              </a:ext>
            </a:extLst>
          </p:cNvPr>
          <p:cNvSpPr txBox="1"/>
          <p:nvPr/>
        </p:nvSpPr>
        <p:spPr>
          <a:xfrm>
            <a:off x="0" y="5172731"/>
            <a:ext cx="914400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HK.3 and JN.1 show the greatest early growth rates (more transmissible or better at immune evasion) among the other variants in SK and UK </a:t>
            </a:r>
            <a:endParaRPr lang="en-US" sz="16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It took about 4 months to become dominant (from 0 to 60%) prevalence for HK.3 in SK; However, HK.3 only increased about 20% prevalence in UK.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sym typeface="Wingdings" panose="05000000000000000000" pitchFamily="2" charset="2"/>
              </a:rPr>
              <a:t>SK experienced a high incidence peak (&gt;90K) in August, while the UK remained at a low incidence peak (&lt;3K). Why is it so different?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6DA6F0F-235E-82BE-FFE2-40D27019196C}"/>
              </a:ext>
            </a:extLst>
          </p:cNvPr>
          <p:cNvGrpSpPr/>
          <p:nvPr/>
        </p:nvGrpSpPr>
        <p:grpSpPr>
          <a:xfrm>
            <a:off x="47624" y="249374"/>
            <a:ext cx="9065203" cy="4888938"/>
            <a:chOff x="47624" y="308256"/>
            <a:chExt cx="9065203" cy="488893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87DE3D6-61C5-E64B-5898-A86CC341B9E1}"/>
                </a:ext>
              </a:extLst>
            </p:cNvPr>
            <p:cNvGrpSpPr/>
            <p:nvPr/>
          </p:nvGrpSpPr>
          <p:grpSpPr>
            <a:xfrm>
              <a:off x="47624" y="308256"/>
              <a:ext cx="9065203" cy="4888938"/>
              <a:chOff x="47624" y="984531"/>
              <a:chExt cx="9065203" cy="488893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17DDD6A-A498-89C4-6E05-E4A9EDB568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r="862"/>
              <a:stretch/>
            </p:blipFill>
            <p:spPr>
              <a:xfrm>
                <a:off x="47624" y="984531"/>
                <a:ext cx="9065203" cy="4888938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914F0D-52F1-BFA2-411A-EA0C87DFAEAC}"/>
                  </a:ext>
                </a:extLst>
              </p:cNvPr>
              <p:cNvSpPr/>
              <p:nvPr/>
            </p:nvSpPr>
            <p:spPr>
              <a:xfrm>
                <a:off x="336213" y="2503990"/>
                <a:ext cx="7038242" cy="11688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997AAA4-19EE-97D2-A590-818E8400E7BD}"/>
                  </a:ext>
                </a:extLst>
              </p:cNvPr>
              <p:cNvSpPr/>
              <p:nvPr/>
            </p:nvSpPr>
            <p:spPr>
              <a:xfrm>
                <a:off x="336213" y="4726049"/>
                <a:ext cx="7038242" cy="1044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4C1F3D8-6439-D69C-2D32-96FBABAFE35B}"/>
                </a:ext>
              </a:extLst>
            </p:cNvPr>
            <p:cNvSpPr/>
            <p:nvPr/>
          </p:nvSpPr>
          <p:spPr>
            <a:xfrm>
              <a:off x="131970" y="1841102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7B60FC7-6030-FE84-2C74-1D1DAAD49C98}"/>
                </a:ext>
              </a:extLst>
            </p:cNvPr>
            <p:cNvSpPr/>
            <p:nvPr/>
          </p:nvSpPr>
          <p:spPr>
            <a:xfrm>
              <a:off x="131969" y="4028992"/>
              <a:ext cx="159327" cy="104405"/>
            </a:xfrm>
            <a:prstGeom prst="rightArrow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09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9B03-FD88-6ECB-B32C-236F54FA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40EF9-D4D4-A5BD-DE06-0BF5D7834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00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  <a:sym typeface="Wingdings" panose="05000000000000000000" pitchFamily="2" charset="2"/>
              </a:rPr>
              <a:t>How can we predict the level/timing of future epidemic peak based on an early variant growth rate at low prevalence?</a:t>
            </a:r>
          </a:p>
          <a:p>
            <a:endParaRPr lang="en-US" sz="2400" dirty="0">
              <a:latin typeface="+mn-lt"/>
              <a:sym typeface="Wingdings" panose="05000000000000000000" pitchFamily="2" charset="2"/>
            </a:endParaRPr>
          </a:p>
          <a:p>
            <a:r>
              <a:rPr lang="en-US" sz="2400" dirty="0">
                <a:latin typeface="+mn-lt"/>
                <a:sym typeface="Wingdings" panose="05000000000000000000" pitchFamily="2" charset="2"/>
              </a:rPr>
              <a:t>What are the early signs of variants to predict </a:t>
            </a:r>
            <a:r>
              <a:rPr lang="en-US" sz="2400" b="0" dirty="0">
                <a:solidFill>
                  <a:srgbClr val="0D0D0D"/>
                </a:solidFill>
                <a:effectLst/>
                <a:latin typeface="+mn-lt"/>
              </a:rPr>
              <a:t>how quickly a variant becomes dominant?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  <a:sym typeface="Wingdings" panose="05000000000000000000" pitchFamily="2" charset="2"/>
              </a:rPr>
              <a:t>level and duration of early growth rates of individual variants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  <a:sym typeface="Wingdings" panose="05000000000000000000" pitchFamily="2" charset="2"/>
              </a:rPr>
              <a:t>distribution of existing dominant variants</a:t>
            </a:r>
            <a:endParaRPr lang="en-US" sz="2000" b="0" dirty="0">
              <a:solidFill>
                <a:srgbClr val="0D0D0D"/>
              </a:solidFill>
              <a:effectLst/>
              <a:latin typeface="+mn-lt"/>
            </a:endParaRPr>
          </a:p>
          <a:p>
            <a:endParaRPr lang="en-US" sz="2400" dirty="0">
              <a:solidFill>
                <a:srgbClr val="0D0D0D"/>
              </a:solidFill>
              <a:latin typeface="+mn-lt"/>
            </a:endParaRPr>
          </a:p>
          <a:p>
            <a:r>
              <a:rPr lang="en-US" sz="2400" b="0" i="0" dirty="0">
                <a:solidFill>
                  <a:srgbClr val="0D0D0D"/>
                </a:solidFill>
                <a:effectLst/>
                <a:latin typeface="+mn-lt"/>
              </a:rPr>
              <a:t>To enhance the early outbreak investigation of new variants, which additional data needs to be systematically collected and analyzed?</a:t>
            </a:r>
            <a:endParaRPr lang="en-US" sz="4000" dirty="0">
              <a:latin typeface="+mn-lt"/>
              <a:sym typeface="Wingdings" panose="05000000000000000000" pitchFamily="2" charset="2"/>
            </a:endParaRPr>
          </a:p>
          <a:p>
            <a:endParaRPr lang="en-US" sz="3200" i="1" dirty="0">
              <a:sym typeface="Wingdings" panose="05000000000000000000" pitchFamily="2" charset="2"/>
            </a:endParaRPr>
          </a:p>
          <a:p>
            <a:endParaRPr lang="en-US" sz="3200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450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6F64-B2B8-4331-0DA5-6FD5AE7A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Detecting a fast growth rate at a low prevalence  an early warning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41B00-6569-5383-50BE-03C6DBACC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5324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Early growth rates can indicate whether a new variant has a competitive advantage (more transmissible or better at evading the immune response) over existing strains. 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Understanding growth rates at low prevalences allows for timely interventions, such as updating vaccines, reinforcing public health measures, or issuing travel advisories.</a:t>
            </a:r>
          </a:p>
          <a:p>
            <a:pPr algn="l">
              <a:buFont typeface="+mj-lt"/>
              <a:buAutoNum type="arabicPeriod"/>
            </a:pPr>
            <a:endParaRPr lang="en-US" sz="2000" b="0" i="0" dirty="0">
              <a:solidFill>
                <a:srgbClr val="0D0D0D"/>
              </a:solidFill>
              <a:effectLst/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rgbClr val="0D0D0D"/>
                </a:solidFill>
                <a:latin typeface="Söhne"/>
              </a:rPr>
              <a:t>Accurate early growth rates help in modeling the future spread of the variant, which helps in planning healthcare resources and implementing control measures.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489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4230</TotalTime>
  <Words>578</Words>
  <Application>Microsoft Office PowerPoint</Application>
  <PresentationFormat>On-screen Show (4:3)</PresentationFormat>
  <Paragraphs>71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Söhne</vt:lpstr>
      <vt:lpstr>Arial</vt:lpstr>
      <vt:lpstr>Calibri</vt:lpstr>
      <vt:lpstr>Courier New</vt:lpstr>
      <vt:lpstr>Wingdings</vt:lpstr>
      <vt:lpstr>Office Theme</vt:lpstr>
      <vt:lpstr>3) COVID-19 variants growth rates and comparison between  South Korea and the United Kingdom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points</vt:lpstr>
      <vt:lpstr>Detecting a fast growth rate at a low prevalence  an early warning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CBallestrini</dc:creator>
  <cp:lastModifiedBy>Youngji Jo</cp:lastModifiedBy>
  <cp:revision>276</cp:revision>
  <dcterms:created xsi:type="dcterms:W3CDTF">2013-09-03T13:04:14Z</dcterms:created>
  <dcterms:modified xsi:type="dcterms:W3CDTF">2024-05-16T23:56:02Z</dcterms:modified>
</cp:coreProperties>
</file>