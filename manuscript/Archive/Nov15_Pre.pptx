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71" r:id="rId4"/>
    <p:sldId id="272" r:id="rId5"/>
    <p:sldId id="273" r:id="rId6"/>
    <p:sldId id="274"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42"/>
    <p:restoredTop sz="94694"/>
  </p:normalViewPr>
  <p:slideViewPr>
    <p:cSldViewPr snapToGrid="0">
      <p:cViewPr varScale="1">
        <p:scale>
          <a:sx n="121" d="100"/>
          <a:sy n="121" d="100"/>
        </p:scale>
        <p:origin x="6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9157-6AB7-0684-3F80-A260C9841F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CB1F02-5CB3-DC19-37BC-35EA3D52B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CBB088-17D9-58B6-1A87-4E8A0672EF29}"/>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5" name="Footer Placeholder 4">
            <a:extLst>
              <a:ext uri="{FF2B5EF4-FFF2-40B4-BE49-F238E27FC236}">
                <a16:creationId xmlns:a16="http://schemas.microsoft.com/office/drawing/2014/main" id="{CC5C5B3F-C075-2081-BD72-5D7BE3D06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663DAA-CDC8-827B-FC55-3D695FF16B55}"/>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23578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DCE5-F67B-2B65-168E-88CB932EEF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A87FD-4448-87A8-9D0B-898AAD35FC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797D0E-C77A-2FC2-AB3E-0AD56D3F31A6}"/>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5" name="Footer Placeholder 4">
            <a:extLst>
              <a:ext uri="{FF2B5EF4-FFF2-40B4-BE49-F238E27FC236}">
                <a16:creationId xmlns:a16="http://schemas.microsoft.com/office/drawing/2014/main" id="{77FA09D2-D7DF-84A5-DAC5-2DA2AB95C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CA389D-73E0-3944-D73A-74445B8208ED}"/>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4202606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F484E-0578-5AAA-6786-9935D45A50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BC3714-5E21-0D30-97D8-E76BC57407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FAA237-E5F3-7176-15CC-58731DD093BB}"/>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5" name="Footer Placeholder 4">
            <a:extLst>
              <a:ext uri="{FF2B5EF4-FFF2-40B4-BE49-F238E27FC236}">
                <a16:creationId xmlns:a16="http://schemas.microsoft.com/office/drawing/2014/main" id="{1007E19D-673C-5B49-3DA3-15688FB01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0C3E2-D0B3-CBFB-362D-FC67DF1DDA9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71750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547D-0524-0C82-E459-1173ADB219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74372-F673-0481-C529-4C553604C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C23BDA-D7CA-95EB-9D38-F5E0D9D333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6F8AC7-6C6A-41FD-58C9-6E8DBE64157A}"/>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6" name="Footer Placeholder 5">
            <a:extLst>
              <a:ext uri="{FF2B5EF4-FFF2-40B4-BE49-F238E27FC236}">
                <a16:creationId xmlns:a16="http://schemas.microsoft.com/office/drawing/2014/main" id="{07CE931B-D1E1-2BAF-6E0C-6BCB849E9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5C089B-DD93-7A43-2AD7-A09C9E4DD0F7}"/>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37135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922BA-F722-D6EC-9A32-FBE288495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BFF42F-2440-1764-AE55-F48C65FB3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A84A0-DD3E-555D-0CA5-0BA4D68090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F6451C-75B9-6585-4226-5F7B19468C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E56871-6105-97E0-6E87-1EA539E14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85D42D-AFDC-E7C1-6F28-15E1C94E43B0}"/>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8" name="Footer Placeholder 7">
            <a:extLst>
              <a:ext uri="{FF2B5EF4-FFF2-40B4-BE49-F238E27FC236}">
                <a16:creationId xmlns:a16="http://schemas.microsoft.com/office/drawing/2014/main" id="{205D10D6-9958-A57B-6FF8-EE850F52E5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41C9E4-A47F-0090-1BBD-C444F3DF603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087583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58AF-3B29-0CBE-9D53-3B701CBD3C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A8615-7261-94FC-0FBA-6E37D7B51D8C}"/>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4" name="Footer Placeholder 3">
            <a:extLst>
              <a:ext uri="{FF2B5EF4-FFF2-40B4-BE49-F238E27FC236}">
                <a16:creationId xmlns:a16="http://schemas.microsoft.com/office/drawing/2014/main" id="{57EE710C-8001-0E58-9376-A7F6E37901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8B6BF1-9F20-D11C-43DA-B1C93C17F4D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06824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3A548E-83BB-7B22-EB3C-CC8762C40EB0}"/>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3" name="Footer Placeholder 2">
            <a:extLst>
              <a:ext uri="{FF2B5EF4-FFF2-40B4-BE49-F238E27FC236}">
                <a16:creationId xmlns:a16="http://schemas.microsoft.com/office/drawing/2014/main" id="{9E7DC2AB-DC35-6F77-7A72-D0998D5E70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A1185F-AA7F-A6C4-F1C9-31F77233C76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56332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C392-D96E-980C-BA9F-9E0DCB1DB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08D7D2-06E3-3BA0-25C0-09CD35C96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90B913-6D25-EE70-EFF7-93EE4C331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58AAE2-7840-DAC4-9D17-0CCFED972701}"/>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6" name="Footer Placeholder 5">
            <a:extLst>
              <a:ext uri="{FF2B5EF4-FFF2-40B4-BE49-F238E27FC236}">
                <a16:creationId xmlns:a16="http://schemas.microsoft.com/office/drawing/2014/main" id="{9D50DC97-1A30-129A-FF38-334F0C2E88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6CED9-D1B7-4AE6-5282-CB500730F3C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195166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3C49-7882-C232-1313-528F0BD7D1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38655A-4833-82CA-001A-DFEA830B8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AA4919-B228-3B67-9320-850590D95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7E630-D409-D4F5-9E7C-D3556802E721}"/>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6" name="Footer Placeholder 5">
            <a:extLst>
              <a:ext uri="{FF2B5EF4-FFF2-40B4-BE49-F238E27FC236}">
                <a16:creationId xmlns:a16="http://schemas.microsoft.com/office/drawing/2014/main" id="{A78FE7D7-9E41-08CA-F10F-5C7BA71E0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CB347-9C21-1D67-1D8E-F05A0A5E414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61367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550B-793E-9077-395D-A665C801EB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3851BE-3DCE-0EE7-CC07-5309FF72DF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65C14-895C-58A9-6B37-133461CA0710}"/>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5" name="Footer Placeholder 4">
            <a:extLst>
              <a:ext uri="{FF2B5EF4-FFF2-40B4-BE49-F238E27FC236}">
                <a16:creationId xmlns:a16="http://schemas.microsoft.com/office/drawing/2014/main" id="{9512861F-F6EC-6E45-9D3F-97D94A8BF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09F3C-0479-50BF-3268-6B4778CE6438}"/>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47708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30982A-D625-28EB-7E80-F81FE7EC5C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A326B5-8A55-B2AE-FE90-731B05299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4AE417-8322-B6FC-FC1A-A23BFAE1898A}"/>
              </a:ext>
            </a:extLst>
          </p:cNvPr>
          <p:cNvSpPr>
            <a:spLocks noGrp="1"/>
          </p:cNvSpPr>
          <p:nvPr>
            <p:ph type="dt" sz="half" idx="10"/>
          </p:nvPr>
        </p:nvSpPr>
        <p:spPr/>
        <p:txBody>
          <a:bodyPr/>
          <a:lstStyle/>
          <a:p>
            <a:fld id="{A4C22A8C-B3EF-F04B-AF56-45443FB0812E}" type="datetimeFigureOut">
              <a:rPr lang="en-US" smtClean="0"/>
              <a:t>11/16/24</a:t>
            </a:fld>
            <a:endParaRPr lang="en-US"/>
          </a:p>
        </p:txBody>
      </p:sp>
      <p:sp>
        <p:nvSpPr>
          <p:cNvPr id="5" name="Footer Placeholder 4">
            <a:extLst>
              <a:ext uri="{FF2B5EF4-FFF2-40B4-BE49-F238E27FC236}">
                <a16:creationId xmlns:a16="http://schemas.microsoft.com/office/drawing/2014/main" id="{901B4390-29B4-7D9F-1029-70E9E4A36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0F1FC-DB16-7029-382E-F9745FF03A5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868688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24A1A-CF6C-BDED-2A86-2A8BDAE0FD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EAE82E-E6E5-FE84-D9AF-9233F3B85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11BA4-F3C4-C5DC-F9F3-677C2630B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C22A8C-B3EF-F04B-AF56-45443FB0812E}" type="datetimeFigureOut">
              <a:rPr lang="en-US" smtClean="0"/>
              <a:t>11/16/24</a:t>
            </a:fld>
            <a:endParaRPr lang="en-US"/>
          </a:p>
        </p:txBody>
      </p:sp>
      <p:sp>
        <p:nvSpPr>
          <p:cNvPr id="5" name="Footer Placeholder 4">
            <a:extLst>
              <a:ext uri="{FF2B5EF4-FFF2-40B4-BE49-F238E27FC236}">
                <a16:creationId xmlns:a16="http://schemas.microsoft.com/office/drawing/2014/main" id="{71921666-07FB-CCB1-DAB5-2E83754B20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624975-73BA-9A1B-309A-1E3A41579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D3DA4-84C1-4145-B04E-7728C26A148A}" type="slidenum">
              <a:rPr lang="en-US" smtClean="0"/>
              <a:t>‹#›</a:t>
            </a:fld>
            <a:endParaRPr lang="en-US"/>
          </a:p>
        </p:txBody>
      </p:sp>
    </p:spTree>
    <p:extLst>
      <p:ext uri="{BB962C8B-B14F-4D97-AF65-F5344CB8AC3E}">
        <p14:creationId xmlns:p14="http://schemas.microsoft.com/office/powerpoint/2010/main" val="1617482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C7BF547-C03F-3633-5D01-0D79C50C302A}"/>
              </a:ext>
            </a:extLst>
          </p:cNvPr>
          <p:cNvSpPr txBox="1">
            <a:spLocks/>
          </p:cNvSpPr>
          <p:nvPr/>
        </p:nvSpPr>
        <p:spPr>
          <a:xfrm>
            <a:off x="2462705" y="1848784"/>
            <a:ext cx="7266589"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Time Series Analysis of Global COVID-19 Variants</a:t>
            </a:r>
            <a:endParaRPr lang="en-US" altLang="ko-KR" sz="4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C564C5-2B52-EB2C-F85D-8976B54B31CB}"/>
              </a:ext>
            </a:extLst>
          </p:cNvPr>
          <p:cNvSpPr txBox="1"/>
          <p:nvPr/>
        </p:nvSpPr>
        <p:spPr>
          <a:xfrm>
            <a:off x="5280717" y="3683653"/>
            <a:ext cx="1630576" cy="1015663"/>
          </a:xfrm>
          <a:prstGeom prst="rect">
            <a:avLst/>
          </a:prstGeom>
          <a:noFill/>
        </p:spPr>
        <p:txBody>
          <a:bodyPr wrap="none" rtlCol="0">
            <a:spAutoFit/>
          </a:bodyPr>
          <a:lstStyle/>
          <a:p>
            <a:pPr algn="ctr"/>
            <a:r>
              <a:rPr lang="en-US" sz="2000" dirty="0">
                <a:latin typeface="Times New Roman" panose="02020603050405020304" pitchFamily="18" charset="0"/>
                <a:cs typeface="Times New Roman" panose="02020603050405020304" pitchFamily="18" charset="0"/>
              </a:rPr>
              <a:t>Oct 16, 2024</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Franky Zhang</a:t>
            </a:r>
          </a:p>
        </p:txBody>
      </p:sp>
    </p:spTree>
    <p:extLst>
      <p:ext uri="{BB962C8B-B14F-4D97-AF65-F5344CB8AC3E}">
        <p14:creationId xmlns:p14="http://schemas.microsoft.com/office/powerpoint/2010/main" val="1440547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E8517F2-F110-7FB5-BCCB-D785BDB8190E}"/>
              </a:ext>
            </a:extLst>
          </p:cNvPr>
          <p:cNvSpPr txBox="1">
            <a:spLocks/>
          </p:cNvSpPr>
          <p:nvPr/>
        </p:nvSpPr>
        <p:spPr>
          <a:xfrm>
            <a:off x="256606" y="331076"/>
            <a:ext cx="11678785" cy="2266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Data Description</a:t>
            </a:r>
          </a:p>
          <a:p>
            <a:pPr lvl="1">
              <a:lnSpc>
                <a:spcPct val="120000"/>
              </a:lnSpc>
            </a:pPr>
            <a:r>
              <a:rPr lang="en-US" sz="2000" dirty="0">
                <a:effectLst/>
                <a:latin typeface="Times New Roman" panose="02020603050405020304" pitchFamily="18" charset="0"/>
                <a:ea typeface="DengXian" panose="02010600030101010101" pitchFamily="2" charset="-122"/>
              </a:rPr>
              <a:t>Dataset includes infection counts from over 2,000 COVID-19 variants across the </a:t>
            </a:r>
            <a:r>
              <a:rPr lang="en-US" sz="2000" b="1" dirty="0">
                <a:effectLst/>
                <a:latin typeface="Times New Roman" panose="02020603050405020304" pitchFamily="18" charset="0"/>
                <a:ea typeface="DengXian" panose="02010600030101010101" pitchFamily="2" charset="-122"/>
              </a:rPr>
              <a:t>TOP 30 countries </a:t>
            </a:r>
            <a:r>
              <a:rPr lang="en-US" sz="2000" dirty="0">
                <a:effectLst/>
                <a:latin typeface="Times New Roman" panose="02020603050405020304" pitchFamily="18" charset="0"/>
                <a:ea typeface="DengXian" panose="02010600030101010101" pitchFamily="2" charset="-122"/>
              </a:rPr>
              <a:t>with the highest infections, covering </a:t>
            </a:r>
            <a:r>
              <a:rPr lang="en-US" sz="2000" b="1" dirty="0">
                <a:effectLst/>
                <a:latin typeface="Times New Roman" panose="02020603050405020304" pitchFamily="18" charset="0"/>
                <a:ea typeface="DengXian" panose="02010600030101010101" pitchFamily="2" charset="-122"/>
              </a:rPr>
              <a:t>January 2020 to May 2024</a:t>
            </a:r>
            <a:r>
              <a:rPr lang="en-US" sz="2000" dirty="0">
                <a:effectLst/>
                <a:latin typeface="Times New Roman" panose="02020603050405020304" pitchFamily="18" charset="0"/>
                <a:ea typeface="DengXian" panose="02010600030101010101" pitchFamily="2" charset="-122"/>
              </a:rPr>
              <a:t>.</a:t>
            </a:r>
          </a:p>
          <a:p>
            <a:pPr lvl="1">
              <a:lnSpc>
                <a:spcPct val="120000"/>
              </a:lnSpc>
            </a:pPr>
            <a:r>
              <a:rPr lang="en-US" sz="2000" dirty="0">
                <a:effectLst/>
                <a:latin typeface="Times New Roman" panose="02020603050405020304" pitchFamily="18" charset="0"/>
                <a:ea typeface="DengXian" panose="02010600030101010101" pitchFamily="2" charset="-122"/>
              </a:rPr>
              <a:t>Data is recorded daily, allowing for detailed day-level analysis.</a:t>
            </a:r>
            <a:endParaRPr lang="en-US" sz="1200" kern="100" dirty="0">
              <a:latin typeface="Arial" panose="020B0604020202020204" pitchFamily="34" charset="0"/>
              <a:ea typeface="DengXian" panose="02010600030101010101" pitchFamily="2" charset="-122"/>
              <a:cs typeface="Arial" panose="020B0604020202020204" pitchFamily="34" charset="0"/>
            </a:endParaRPr>
          </a:p>
          <a:p>
            <a:pPr marL="0" indent="0">
              <a:lnSpc>
                <a:spcPct val="120000"/>
              </a:lnSpc>
              <a:buNone/>
            </a:pPr>
            <a:endParaRPr lang="en-US" sz="1900" b="1" dirty="0">
              <a:latin typeface="Arial" panose="020B0604020202020204" pitchFamily="34"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27AB2101-1BA0-8703-F38F-332D2B24583B}"/>
              </a:ext>
            </a:extLst>
          </p:cNvPr>
          <p:cNvSpPr txBox="1">
            <a:spLocks/>
          </p:cNvSpPr>
          <p:nvPr/>
        </p:nvSpPr>
        <p:spPr>
          <a:xfrm>
            <a:off x="256606" y="2597504"/>
            <a:ext cx="11678785" cy="3689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Definition and Methodology</a:t>
            </a:r>
          </a:p>
          <a:p>
            <a:pPr lvl="1">
              <a:lnSpc>
                <a:spcPct val="120000"/>
              </a:lnSpc>
            </a:pPr>
            <a:r>
              <a:rPr lang="en-US" sz="2000" dirty="0">
                <a:latin typeface="Times New Roman" panose="02020603050405020304" pitchFamily="18" charset="0"/>
                <a:ea typeface="DengXian" panose="02010600030101010101" pitchFamily="2" charset="-122"/>
              </a:rPr>
              <a:t>The term "</a:t>
            </a:r>
            <a:r>
              <a:rPr lang="en-US" sz="2000" b="1" dirty="0">
                <a:latin typeface="Times New Roman" panose="02020603050405020304" pitchFamily="18" charset="0"/>
                <a:ea typeface="DengXian" panose="02010600030101010101" pitchFamily="2" charset="-122"/>
              </a:rPr>
              <a:t>Dominance of Variants</a:t>
            </a:r>
            <a:r>
              <a:rPr lang="en-US" sz="2000" dirty="0">
                <a:latin typeface="Times New Roman" panose="02020603050405020304" pitchFamily="18" charset="0"/>
                <a:ea typeface="DengXian" panose="02010600030101010101" pitchFamily="2" charset="-122"/>
              </a:rPr>
              <a:t>" is defined in two ways: the sum of the monthly share of infections and the average of the monthly share of infections.</a:t>
            </a:r>
          </a:p>
          <a:p>
            <a:pPr lvl="1">
              <a:lnSpc>
                <a:spcPct val="120000"/>
              </a:lnSpc>
            </a:pP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The daily infection data,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over 2,000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for TOP 30 countries, was grouped into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22 shared classified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based on strings of possible parent lineages. </a:t>
            </a:r>
          </a:p>
          <a:p>
            <a:pPr lvl="1">
              <a:lnSpc>
                <a:spcPct val="120000"/>
              </a:lnSpc>
            </a:pPr>
            <a:r>
              <a:rPr lang="en-US" sz="2000" kern="100" dirty="0">
                <a:latin typeface="Times New Roman" panose="02020603050405020304" pitchFamily="18" charset="0"/>
                <a:ea typeface="DengXian" panose="02010600030101010101" pitchFamily="2" charset="-122"/>
                <a:cs typeface="Times New Roman" panose="02020603050405020304" pitchFamily="18" charset="0"/>
              </a:rPr>
              <a:t>The </a:t>
            </a:r>
            <a:r>
              <a:rPr lang="en-US" sz="2000" b="1" kern="100" dirty="0">
                <a:latin typeface="Times New Roman" panose="02020603050405020304" pitchFamily="18" charset="0"/>
                <a:ea typeface="DengXian" panose="02010600030101010101" pitchFamily="2" charset="-122"/>
                <a:cs typeface="Times New Roman" panose="02020603050405020304" pitchFamily="18" charset="0"/>
              </a:rPr>
              <a:t>Generalized Additive Model (GAM) </a:t>
            </a:r>
            <a:r>
              <a:rPr lang="en-US" sz="2000" kern="100" dirty="0">
                <a:latin typeface="Times New Roman" panose="02020603050405020304" pitchFamily="18" charset="0"/>
                <a:ea typeface="DengXian" panose="02010600030101010101" pitchFamily="2" charset="-122"/>
                <a:cs typeface="Times New Roman" panose="02020603050405020304" pitchFamily="18" charset="0"/>
              </a:rPr>
              <a:t>was used to smooth the infection frequency and share within each country, and the growth rate was calculated from the first derivative of the smoothed curves.</a:t>
            </a:r>
          </a:p>
          <a:p>
            <a:pPr lvl="1">
              <a:lnSpc>
                <a:spcPct val="120000"/>
              </a:lnSpc>
            </a:pPr>
            <a:r>
              <a:rPr lang="en-US" sz="2000" b="1" kern="100" dirty="0">
                <a:latin typeface="Times New Roman" panose="02020603050405020304" pitchFamily="18" charset="0"/>
                <a:ea typeface="DengXian" panose="02010600030101010101" pitchFamily="2" charset="-122"/>
                <a:cs typeface="Times New Roman" panose="02020603050405020304" pitchFamily="18" charset="0"/>
              </a:rPr>
              <a:t>Functional Data Analysis (FDA) </a:t>
            </a:r>
            <a:r>
              <a:rPr lang="en-US" sz="2000" kern="100" dirty="0">
                <a:latin typeface="Times New Roman" panose="02020603050405020304" pitchFamily="18" charset="0"/>
                <a:ea typeface="DengXian" panose="02010600030101010101" pitchFamily="2" charset="-122"/>
                <a:cs typeface="Times New Roman" panose="02020603050405020304" pitchFamily="18" charset="0"/>
              </a:rPr>
              <a:t>was applied for prediction using various inputs and outputs, effectively avoiding the multicollinearity problem.</a:t>
            </a:r>
            <a:endParaRPr lang="en-US" sz="1900" b="1" dirty="0">
              <a:latin typeface="Arial" panose="020B06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3FEEBF10-EB5C-5D35-CF9D-E73E38FBFD3C}"/>
              </a:ext>
            </a:extLst>
          </p:cNvPr>
          <p:cNvSpPr txBox="1"/>
          <p:nvPr/>
        </p:nvSpPr>
        <p:spPr>
          <a:xfrm>
            <a:off x="11735694" y="6469095"/>
            <a:ext cx="399393" cy="369332"/>
          </a:xfrm>
          <a:prstGeom prst="rect">
            <a:avLst/>
          </a:prstGeom>
          <a:noFill/>
        </p:spPr>
        <p:txBody>
          <a:bodyPr wrap="square" rtlCol="0">
            <a:spAutoFit/>
          </a:bodyPr>
          <a:lstStyle/>
          <a:p>
            <a:r>
              <a:rPr lang="en-US" dirty="0"/>
              <a:t>1</a:t>
            </a:r>
          </a:p>
        </p:txBody>
      </p:sp>
      <p:sp>
        <p:nvSpPr>
          <p:cNvPr id="2" name="TextBox 1">
            <a:extLst>
              <a:ext uri="{FF2B5EF4-FFF2-40B4-BE49-F238E27FC236}">
                <a16:creationId xmlns:a16="http://schemas.microsoft.com/office/drawing/2014/main" id="{DE058EB1-B6FE-A774-E5D0-E72134C2056D}"/>
              </a:ext>
            </a:extLst>
          </p:cNvPr>
          <p:cNvSpPr txBox="1"/>
          <p:nvPr/>
        </p:nvSpPr>
        <p:spPr>
          <a:xfrm>
            <a:off x="4393324" y="2045711"/>
            <a:ext cx="2796215" cy="369332"/>
          </a:xfrm>
          <a:prstGeom prst="rect">
            <a:avLst/>
          </a:prstGeom>
          <a:noFill/>
        </p:spPr>
        <p:txBody>
          <a:bodyPr wrap="none" rtlCol="0">
            <a:spAutoFit/>
          </a:bodyPr>
          <a:lstStyle/>
          <a:p>
            <a:r>
              <a:rPr lang="en-US" dirty="0"/>
              <a:t>List the countries I include</a:t>
            </a:r>
          </a:p>
        </p:txBody>
      </p:sp>
      <p:sp>
        <p:nvSpPr>
          <p:cNvPr id="3" name="TextBox 2">
            <a:extLst>
              <a:ext uri="{FF2B5EF4-FFF2-40B4-BE49-F238E27FC236}">
                <a16:creationId xmlns:a16="http://schemas.microsoft.com/office/drawing/2014/main" id="{07FEA80B-D6F1-BDD5-0895-6C253761D802}"/>
              </a:ext>
            </a:extLst>
          </p:cNvPr>
          <p:cNvSpPr txBox="1"/>
          <p:nvPr/>
        </p:nvSpPr>
        <p:spPr>
          <a:xfrm>
            <a:off x="5791431" y="2408297"/>
            <a:ext cx="5448928" cy="369332"/>
          </a:xfrm>
          <a:prstGeom prst="rect">
            <a:avLst/>
          </a:prstGeom>
          <a:noFill/>
        </p:spPr>
        <p:txBody>
          <a:bodyPr wrap="none" rtlCol="0">
            <a:spAutoFit/>
          </a:bodyPr>
          <a:lstStyle/>
          <a:p>
            <a:r>
              <a:rPr lang="en-US" dirty="0"/>
              <a:t>Apply the model to South Korea and UK, and evaluate</a:t>
            </a:r>
          </a:p>
        </p:txBody>
      </p:sp>
    </p:spTree>
    <p:extLst>
      <p:ext uri="{BB962C8B-B14F-4D97-AF65-F5344CB8AC3E}">
        <p14:creationId xmlns:p14="http://schemas.microsoft.com/office/powerpoint/2010/main" val="144264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1BB57-5165-4DA2-DA28-860D92A9802E}"/>
              </a:ext>
            </a:extLst>
          </p:cNvPr>
          <p:cNvPicPr>
            <a:picLocks noChangeAspect="1"/>
          </p:cNvPicPr>
          <p:nvPr/>
        </p:nvPicPr>
        <p:blipFill>
          <a:blip r:embed="rId2"/>
          <a:stretch>
            <a:fillRect/>
          </a:stretch>
        </p:blipFill>
        <p:spPr>
          <a:xfrm>
            <a:off x="353410" y="919752"/>
            <a:ext cx="11485180" cy="5938248"/>
          </a:xfrm>
          <a:prstGeom prst="rect">
            <a:avLst/>
          </a:prstGeom>
        </p:spPr>
      </p:pic>
      <p:sp>
        <p:nvSpPr>
          <p:cNvPr id="5" name="Title 1">
            <a:extLst>
              <a:ext uri="{FF2B5EF4-FFF2-40B4-BE49-F238E27FC236}">
                <a16:creationId xmlns:a16="http://schemas.microsoft.com/office/drawing/2014/main" id="{DD8FC503-B6F2-E908-288E-D4051A57A1EB}"/>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Re-define the initial stage</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AB716BAF-015F-108E-993B-ED62C7F17F0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A5E0A239-DFC9-329B-87F6-B01CDB01185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3358598F-5997-F1A8-0D61-2C0AF6758ADB}"/>
              </a:ext>
            </a:extLst>
          </p:cNvPr>
          <p:cNvSpPr/>
          <p:nvPr/>
        </p:nvSpPr>
        <p:spPr>
          <a:xfrm>
            <a:off x="1082565" y="1177158"/>
            <a:ext cx="388883" cy="2133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D3753EB-6C69-EBA7-82D9-8CD66905828F}"/>
              </a:ext>
            </a:extLst>
          </p:cNvPr>
          <p:cNvSpPr/>
          <p:nvPr/>
        </p:nvSpPr>
        <p:spPr>
          <a:xfrm>
            <a:off x="6931572" y="1177158"/>
            <a:ext cx="478221" cy="2133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953AF00-E8E7-6592-26D6-A7B0FF5CDD15}"/>
              </a:ext>
            </a:extLst>
          </p:cNvPr>
          <p:cNvSpPr/>
          <p:nvPr/>
        </p:nvSpPr>
        <p:spPr>
          <a:xfrm>
            <a:off x="1082565" y="4293475"/>
            <a:ext cx="388883" cy="2133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E04233-DC5D-FBA3-7F0D-359CD74573C8}"/>
              </a:ext>
            </a:extLst>
          </p:cNvPr>
          <p:cNvSpPr/>
          <p:nvPr/>
        </p:nvSpPr>
        <p:spPr>
          <a:xfrm>
            <a:off x="6931571" y="4293475"/>
            <a:ext cx="625367" cy="2133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c 17">
            <a:extLst>
              <a:ext uri="{FF2B5EF4-FFF2-40B4-BE49-F238E27FC236}">
                <a16:creationId xmlns:a16="http://schemas.microsoft.com/office/drawing/2014/main" id="{2374BAFD-8EBF-F645-F0A5-2C6AC7402BDA}"/>
              </a:ext>
            </a:extLst>
          </p:cNvPr>
          <p:cNvSpPr/>
          <p:nvPr/>
        </p:nvSpPr>
        <p:spPr>
          <a:xfrm>
            <a:off x="1305121" y="728378"/>
            <a:ext cx="5865561" cy="1028465"/>
          </a:xfrm>
          <a:prstGeom prst="arc">
            <a:avLst>
              <a:gd name="adj1" fmla="val 10882072"/>
              <a:gd name="adj2" fmla="val 21475047"/>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CBCFE16F-3F4F-C9D6-BAA2-689E17F36C21}"/>
              </a:ext>
            </a:extLst>
          </p:cNvPr>
          <p:cNvSpPr txBox="1"/>
          <p:nvPr/>
        </p:nvSpPr>
        <p:spPr>
          <a:xfrm>
            <a:off x="3386563" y="735086"/>
            <a:ext cx="1702675" cy="369332"/>
          </a:xfrm>
          <a:prstGeom prst="rect">
            <a:avLst/>
          </a:prstGeom>
          <a:noFill/>
        </p:spPr>
        <p:txBody>
          <a:bodyPr wrap="square" rtlCol="0">
            <a:spAutoFit/>
          </a:bodyPr>
          <a:lstStyle/>
          <a:p>
            <a:r>
              <a:rPr lang="en-US" dirty="0">
                <a:solidFill>
                  <a:srgbClr val="FF0000"/>
                </a:solidFill>
              </a:rPr>
              <a:t>60 days period</a:t>
            </a:r>
          </a:p>
        </p:txBody>
      </p:sp>
      <p:sp>
        <p:nvSpPr>
          <p:cNvPr id="20" name="Arc 19">
            <a:extLst>
              <a:ext uri="{FF2B5EF4-FFF2-40B4-BE49-F238E27FC236}">
                <a16:creationId xmlns:a16="http://schemas.microsoft.com/office/drawing/2014/main" id="{4CCBFCED-CE13-0D42-2101-841356C14776}"/>
              </a:ext>
            </a:extLst>
          </p:cNvPr>
          <p:cNvSpPr/>
          <p:nvPr/>
        </p:nvSpPr>
        <p:spPr>
          <a:xfrm>
            <a:off x="1305121" y="3429000"/>
            <a:ext cx="5865561" cy="1898279"/>
          </a:xfrm>
          <a:prstGeom prst="arc">
            <a:avLst>
              <a:gd name="adj1" fmla="val 10882072"/>
              <a:gd name="adj2" fmla="val 21475047"/>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A4888F8E-91E3-38BA-0117-83A731A16C5E}"/>
              </a:ext>
            </a:extLst>
          </p:cNvPr>
          <p:cNvSpPr txBox="1"/>
          <p:nvPr/>
        </p:nvSpPr>
        <p:spPr>
          <a:xfrm>
            <a:off x="3386563" y="3519544"/>
            <a:ext cx="1702675" cy="369332"/>
          </a:xfrm>
          <a:prstGeom prst="rect">
            <a:avLst/>
          </a:prstGeom>
          <a:noFill/>
        </p:spPr>
        <p:txBody>
          <a:bodyPr wrap="square" rtlCol="0">
            <a:spAutoFit/>
          </a:bodyPr>
          <a:lstStyle/>
          <a:p>
            <a:r>
              <a:rPr lang="en-US" dirty="0">
                <a:solidFill>
                  <a:srgbClr val="FF0000"/>
                </a:solidFill>
              </a:rPr>
              <a:t>60 days period</a:t>
            </a:r>
          </a:p>
        </p:txBody>
      </p:sp>
    </p:spTree>
    <p:extLst>
      <p:ext uri="{BB962C8B-B14F-4D97-AF65-F5344CB8AC3E}">
        <p14:creationId xmlns:p14="http://schemas.microsoft.com/office/powerpoint/2010/main" val="3360281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91A5D8-9C86-14DF-E1B2-1BCB9B2F63E4}"/>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Smooth and calculate growth rate</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EE73D9C1-75B0-F1E2-DD38-211AAC544D6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9800AC9D-67F2-A28C-8133-CB48B4B6FC62}"/>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9D89B67E-A7DD-843E-3C73-339A061A55F7}"/>
              </a:ext>
            </a:extLst>
          </p:cNvPr>
          <p:cNvSpPr txBox="1"/>
          <p:nvPr/>
        </p:nvSpPr>
        <p:spPr>
          <a:xfrm>
            <a:off x="4462271" y="759012"/>
            <a:ext cx="2669732" cy="369332"/>
          </a:xfrm>
          <a:prstGeom prst="rect">
            <a:avLst/>
          </a:prstGeom>
          <a:noFill/>
        </p:spPr>
        <p:txBody>
          <a:bodyPr wrap="square" rtlCol="0">
            <a:spAutoFit/>
          </a:bodyPr>
          <a:lstStyle/>
          <a:p>
            <a:r>
              <a:rPr lang="en-US" dirty="0"/>
              <a:t>"United Kingdom-BQ.1"</a:t>
            </a:r>
          </a:p>
        </p:txBody>
      </p:sp>
      <p:pic>
        <p:nvPicPr>
          <p:cNvPr id="9" name="Picture 8">
            <a:extLst>
              <a:ext uri="{FF2B5EF4-FFF2-40B4-BE49-F238E27FC236}">
                <a16:creationId xmlns:a16="http://schemas.microsoft.com/office/drawing/2014/main" id="{EFBCE755-8D00-CF3A-CDC6-E47A3858F075}"/>
              </a:ext>
            </a:extLst>
          </p:cNvPr>
          <p:cNvPicPr>
            <a:picLocks noChangeAspect="1"/>
          </p:cNvPicPr>
          <p:nvPr/>
        </p:nvPicPr>
        <p:blipFill>
          <a:blip r:embed="rId2"/>
          <a:stretch>
            <a:fillRect/>
          </a:stretch>
        </p:blipFill>
        <p:spPr>
          <a:xfrm>
            <a:off x="610913" y="1289406"/>
            <a:ext cx="10970173" cy="4809582"/>
          </a:xfrm>
          <a:prstGeom prst="rect">
            <a:avLst/>
          </a:prstGeom>
        </p:spPr>
      </p:pic>
    </p:spTree>
    <p:extLst>
      <p:ext uri="{BB962C8B-B14F-4D97-AF65-F5344CB8AC3E}">
        <p14:creationId xmlns:p14="http://schemas.microsoft.com/office/powerpoint/2010/main" val="4137402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D44DCC-50F0-4025-5122-AEC84A707F89}"/>
              </a:ext>
            </a:extLst>
          </p:cNvPr>
          <p:cNvPicPr>
            <a:picLocks noChangeAspect="1"/>
          </p:cNvPicPr>
          <p:nvPr/>
        </p:nvPicPr>
        <p:blipFill>
          <a:blip r:embed="rId2"/>
          <a:stretch>
            <a:fillRect/>
          </a:stretch>
        </p:blipFill>
        <p:spPr>
          <a:xfrm>
            <a:off x="157000" y="729775"/>
            <a:ext cx="5203278" cy="2050647"/>
          </a:xfrm>
          <a:prstGeom prst="rect">
            <a:avLst/>
          </a:prstGeom>
        </p:spPr>
      </p:pic>
      <p:pic>
        <p:nvPicPr>
          <p:cNvPr id="6" name="Picture 5">
            <a:extLst>
              <a:ext uri="{FF2B5EF4-FFF2-40B4-BE49-F238E27FC236}">
                <a16:creationId xmlns:a16="http://schemas.microsoft.com/office/drawing/2014/main" id="{3DF359AC-EEF7-90F4-8535-34519604D631}"/>
              </a:ext>
            </a:extLst>
          </p:cNvPr>
          <p:cNvPicPr>
            <a:picLocks noChangeAspect="1"/>
          </p:cNvPicPr>
          <p:nvPr/>
        </p:nvPicPr>
        <p:blipFill>
          <a:blip r:embed="rId3"/>
          <a:stretch>
            <a:fillRect/>
          </a:stretch>
        </p:blipFill>
        <p:spPr>
          <a:xfrm>
            <a:off x="5490342" y="374711"/>
            <a:ext cx="5661134" cy="3054289"/>
          </a:xfrm>
          <a:prstGeom prst="rect">
            <a:avLst/>
          </a:prstGeom>
        </p:spPr>
      </p:pic>
      <p:pic>
        <p:nvPicPr>
          <p:cNvPr id="7" name="Picture 6">
            <a:extLst>
              <a:ext uri="{FF2B5EF4-FFF2-40B4-BE49-F238E27FC236}">
                <a16:creationId xmlns:a16="http://schemas.microsoft.com/office/drawing/2014/main" id="{D75A76BB-9571-2638-986E-D3DBE740705C}"/>
              </a:ext>
            </a:extLst>
          </p:cNvPr>
          <p:cNvPicPr>
            <a:picLocks noChangeAspect="1"/>
          </p:cNvPicPr>
          <p:nvPr/>
        </p:nvPicPr>
        <p:blipFill>
          <a:blip r:embed="rId4"/>
          <a:stretch>
            <a:fillRect/>
          </a:stretch>
        </p:blipFill>
        <p:spPr>
          <a:xfrm>
            <a:off x="5804994" y="3523413"/>
            <a:ext cx="5346481" cy="2208097"/>
          </a:xfrm>
          <a:prstGeom prst="rect">
            <a:avLst/>
          </a:prstGeom>
        </p:spPr>
      </p:pic>
      <p:cxnSp>
        <p:nvCxnSpPr>
          <p:cNvPr id="9" name="Straight Connector 8">
            <a:extLst>
              <a:ext uri="{FF2B5EF4-FFF2-40B4-BE49-F238E27FC236}">
                <a16:creationId xmlns:a16="http://schemas.microsoft.com/office/drawing/2014/main" id="{4E8A30F8-09B9-B18C-1144-3D8D452C2A42}"/>
              </a:ext>
            </a:extLst>
          </p:cNvPr>
          <p:cNvCxnSpPr>
            <a:cxnSpLocks/>
          </p:cNvCxnSpPr>
          <p:nvPr/>
        </p:nvCxnSpPr>
        <p:spPr>
          <a:xfrm>
            <a:off x="6369269" y="525517"/>
            <a:ext cx="0" cy="2060028"/>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33F2C43-43D0-A2A1-C216-F35A10603B19}"/>
              </a:ext>
            </a:extLst>
          </p:cNvPr>
          <p:cNvCxnSpPr>
            <a:cxnSpLocks/>
          </p:cNvCxnSpPr>
          <p:nvPr/>
        </p:nvCxnSpPr>
        <p:spPr>
          <a:xfrm>
            <a:off x="7141780" y="525517"/>
            <a:ext cx="0" cy="2060028"/>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64C5D79-3286-BBAB-290E-6A194208D953}"/>
              </a:ext>
            </a:extLst>
          </p:cNvPr>
          <p:cNvCxnSpPr>
            <a:cxnSpLocks/>
          </p:cNvCxnSpPr>
          <p:nvPr/>
        </p:nvCxnSpPr>
        <p:spPr>
          <a:xfrm>
            <a:off x="7987862" y="525517"/>
            <a:ext cx="0" cy="2060028"/>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5ED9D95-1742-CF92-0153-E8FC0B46FDCA}"/>
              </a:ext>
            </a:extLst>
          </p:cNvPr>
          <p:cNvCxnSpPr>
            <a:cxnSpLocks/>
          </p:cNvCxnSpPr>
          <p:nvPr/>
        </p:nvCxnSpPr>
        <p:spPr>
          <a:xfrm>
            <a:off x="9369973" y="525517"/>
            <a:ext cx="0" cy="2060028"/>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9E8656C-1F87-2346-6E2A-18281BCEE503}"/>
              </a:ext>
            </a:extLst>
          </p:cNvPr>
          <p:cNvCxnSpPr>
            <a:cxnSpLocks/>
          </p:cNvCxnSpPr>
          <p:nvPr/>
        </p:nvCxnSpPr>
        <p:spPr>
          <a:xfrm>
            <a:off x="6369269" y="3616890"/>
            <a:ext cx="0" cy="164592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462996CD-7991-C6A3-B97C-2E4CE9100E8B}"/>
              </a:ext>
            </a:extLst>
          </p:cNvPr>
          <p:cNvCxnSpPr>
            <a:cxnSpLocks/>
          </p:cNvCxnSpPr>
          <p:nvPr/>
        </p:nvCxnSpPr>
        <p:spPr>
          <a:xfrm>
            <a:off x="7141780" y="3616890"/>
            <a:ext cx="0" cy="164592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269BCCC-9E2F-F7D0-1581-04BB3845A061}"/>
              </a:ext>
            </a:extLst>
          </p:cNvPr>
          <p:cNvCxnSpPr>
            <a:cxnSpLocks/>
          </p:cNvCxnSpPr>
          <p:nvPr/>
        </p:nvCxnSpPr>
        <p:spPr>
          <a:xfrm>
            <a:off x="7987862" y="3616890"/>
            <a:ext cx="0" cy="164592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149917E-39BE-B4E8-EE21-6A2333FF7C7B}"/>
              </a:ext>
            </a:extLst>
          </p:cNvPr>
          <p:cNvCxnSpPr>
            <a:cxnSpLocks/>
          </p:cNvCxnSpPr>
          <p:nvPr/>
        </p:nvCxnSpPr>
        <p:spPr>
          <a:xfrm>
            <a:off x="9369973" y="3616890"/>
            <a:ext cx="0" cy="164592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2367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71C88F-98A3-5211-23B0-F6085860ACB8}"/>
              </a:ext>
            </a:extLst>
          </p:cNvPr>
          <p:cNvSpPr txBox="1"/>
          <p:nvPr/>
        </p:nvSpPr>
        <p:spPr>
          <a:xfrm>
            <a:off x="3195145" y="1786759"/>
            <a:ext cx="5293180" cy="369332"/>
          </a:xfrm>
          <a:prstGeom prst="rect">
            <a:avLst/>
          </a:prstGeom>
          <a:noFill/>
        </p:spPr>
        <p:txBody>
          <a:bodyPr wrap="none" rtlCol="0">
            <a:spAutoFit/>
          </a:bodyPr>
          <a:lstStyle/>
          <a:p>
            <a:r>
              <a:rPr lang="en-US" dirty="0"/>
              <a:t>List the variants type that </a:t>
            </a:r>
            <a:r>
              <a:rPr lang="en-US" dirty="0" err="1"/>
              <a:t>satisfiy</a:t>
            </a:r>
            <a:r>
              <a:rPr lang="en-US" dirty="0"/>
              <a:t> the model criteria. </a:t>
            </a:r>
          </a:p>
        </p:txBody>
      </p:sp>
      <p:sp>
        <p:nvSpPr>
          <p:cNvPr id="5" name="TextBox 4">
            <a:extLst>
              <a:ext uri="{FF2B5EF4-FFF2-40B4-BE49-F238E27FC236}">
                <a16:creationId xmlns:a16="http://schemas.microsoft.com/office/drawing/2014/main" id="{5F9D0F6C-C58F-8571-5110-EDA962981686}"/>
              </a:ext>
            </a:extLst>
          </p:cNvPr>
          <p:cNvSpPr txBox="1"/>
          <p:nvPr/>
        </p:nvSpPr>
        <p:spPr>
          <a:xfrm>
            <a:off x="3631450" y="3244334"/>
            <a:ext cx="4420569" cy="369332"/>
          </a:xfrm>
          <a:prstGeom prst="rect">
            <a:avLst/>
          </a:prstGeom>
          <a:noFill/>
        </p:spPr>
        <p:txBody>
          <a:bodyPr wrap="none" rtlCol="0">
            <a:spAutoFit/>
          </a:bodyPr>
          <a:lstStyle/>
          <a:p>
            <a:r>
              <a:rPr lang="en-US" dirty="0"/>
              <a:t>Compare with the hospitalization variants. </a:t>
            </a:r>
          </a:p>
        </p:txBody>
      </p:sp>
    </p:spTree>
    <p:extLst>
      <p:ext uri="{BB962C8B-B14F-4D97-AF65-F5344CB8AC3E}">
        <p14:creationId xmlns:p14="http://schemas.microsoft.com/office/powerpoint/2010/main" val="134862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0E25BBB-0FE1-EB68-8388-1571EBF63B3A}"/>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Brief Intro to FDA modeling</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ECA2ECC6-5F58-D29D-65A8-CBB166CB4527}"/>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073CEBF0-3620-C37C-889C-3028C5C0B45D}"/>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a:extLst>
              <a:ext uri="{FF2B5EF4-FFF2-40B4-BE49-F238E27FC236}">
                <a16:creationId xmlns:a16="http://schemas.microsoft.com/office/drawing/2014/main" id="{3AB87A36-EA7C-FB54-717A-EE76E54E90F3}"/>
              </a:ext>
            </a:extLst>
          </p:cNvPr>
          <p:cNvPicPr>
            <a:picLocks noChangeAspect="1"/>
          </p:cNvPicPr>
          <p:nvPr/>
        </p:nvPicPr>
        <p:blipFill>
          <a:blip r:embed="rId2"/>
          <a:stretch>
            <a:fillRect/>
          </a:stretch>
        </p:blipFill>
        <p:spPr>
          <a:xfrm>
            <a:off x="3506952" y="1353806"/>
            <a:ext cx="5178096" cy="1192325"/>
          </a:xfrm>
          <a:prstGeom prst="rect">
            <a:avLst/>
          </a:prstGeom>
        </p:spPr>
      </p:pic>
      <p:cxnSp>
        <p:nvCxnSpPr>
          <p:cNvPr id="10" name="Straight Arrow Connector 9">
            <a:extLst>
              <a:ext uri="{FF2B5EF4-FFF2-40B4-BE49-F238E27FC236}">
                <a16:creationId xmlns:a16="http://schemas.microsoft.com/office/drawing/2014/main" id="{BD255F25-7F2D-F1F8-122F-9FA19D322ED5}"/>
              </a:ext>
            </a:extLst>
          </p:cNvPr>
          <p:cNvCxnSpPr>
            <a:cxnSpLocks/>
          </p:cNvCxnSpPr>
          <p:nvPr/>
        </p:nvCxnSpPr>
        <p:spPr>
          <a:xfrm flipH="1">
            <a:off x="3184634" y="2072283"/>
            <a:ext cx="830318" cy="759425"/>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C0966D90-B696-B2B9-F550-679AF55DD1A0}"/>
              </a:ext>
            </a:extLst>
          </p:cNvPr>
          <p:cNvSpPr txBox="1"/>
          <p:nvPr/>
        </p:nvSpPr>
        <p:spPr>
          <a:xfrm>
            <a:off x="1944412" y="2831708"/>
            <a:ext cx="2480443"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Output:</a:t>
            </a:r>
          </a:p>
          <a:p>
            <a:r>
              <a:rPr lang="en-US" dirty="0">
                <a:latin typeface="Times New Roman" panose="02020603050405020304" pitchFamily="18" charset="0"/>
                <a:cs typeface="Times New Roman" panose="02020603050405020304" pitchFamily="18" charset="0"/>
              </a:rPr>
              <a:t>Defined Dominance for i</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variant in the country</a:t>
            </a:r>
          </a:p>
        </p:txBody>
      </p:sp>
      <p:cxnSp>
        <p:nvCxnSpPr>
          <p:cNvPr id="16" name="Straight Arrow Connector 15">
            <a:extLst>
              <a:ext uri="{FF2B5EF4-FFF2-40B4-BE49-F238E27FC236}">
                <a16:creationId xmlns:a16="http://schemas.microsoft.com/office/drawing/2014/main" id="{50826AA2-E50A-977A-3190-457F0DDFF7C3}"/>
              </a:ext>
            </a:extLst>
          </p:cNvPr>
          <p:cNvCxnSpPr>
            <a:cxnSpLocks/>
          </p:cNvCxnSpPr>
          <p:nvPr/>
        </p:nvCxnSpPr>
        <p:spPr>
          <a:xfrm flipH="1">
            <a:off x="5948855" y="2072282"/>
            <a:ext cx="246993" cy="1193195"/>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181F562-E233-D3CB-77E6-90633D4D40FB}"/>
              </a:ext>
            </a:extLst>
          </p:cNvPr>
          <p:cNvSpPr txBox="1"/>
          <p:nvPr/>
        </p:nvSpPr>
        <p:spPr>
          <a:xfrm>
            <a:off x="4477405" y="3323311"/>
            <a:ext cx="2480443"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Input:</a:t>
            </a:r>
          </a:p>
          <a:p>
            <a:r>
              <a:rPr lang="en-US" dirty="0">
                <a:latin typeface="Times New Roman" panose="02020603050405020304" pitchFamily="18" charset="0"/>
                <a:cs typeface="Times New Roman" panose="02020603050405020304" pitchFamily="18" charset="0"/>
              </a:rPr>
              <a:t>The frequency or share sequence of the variant in its initial stage.</a:t>
            </a:r>
          </a:p>
        </p:txBody>
      </p:sp>
      <p:cxnSp>
        <p:nvCxnSpPr>
          <p:cNvPr id="20" name="Straight Arrow Connector 19">
            <a:extLst>
              <a:ext uri="{FF2B5EF4-FFF2-40B4-BE49-F238E27FC236}">
                <a16:creationId xmlns:a16="http://schemas.microsoft.com/office/drawing/2014/main" id="{2D5B97A4-6FBA-66B9-1B62-900716938D08}"/>
              </a:ext>
            </a:extLst>
          </p:cNvPr>
          <p:cNvCxnSpPr>
            <a:cxnSpLocks/>
          </p:cNvCxnSpPr>
          <p:nvPr/>
        </p:nvCxnSpPr>
        <p:spPr>
          <a:xfrm>
            <a:off x="6973612" y="2100178"/>
            <a:ext cx="1664139" cy="92356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3590D8F-A3FF-90D9-9BAC-B98A1DE3FAF8}"/>
              </a:ext>
            </a:extLst>
          </p:cNvPr>
          <p:cNvSpPr txBox="1"/>
          <p:nvPr/>
        </p:nvSpPr>
        <p:spPr>
          <a:xfrm>
            <a:off x="7767144" y="3068887"/>
            <a:ext cx="2764221"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Coefficients:</a:t>
            </a:r>
          </a:p>
          <a:p>
            <a:r>
              <a:rPr lang="en-US" dirty="0">
                <a:latin typeface="Times New Roman" panose="02020603050405020304" pitchFamily="18" charset="0"/>
                <a:cs typeface="Times New Roman" panose="02020603050405020304" pitchFamily="18" charset="0"/>
              </a:rPr>
              <a:t>Time-varying coefficients, generated using the Fourier basis in our case.</a:t>
            </a:r>
          </a:p>
        </p:txBody>
      </p:sp>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9F5E36A0-3FFB-22CC-BFBA-416C7AE2FAC8}"/>
                  </a:ext>
                </a:extLst>
              </p:cNvPr>
              <p:cNvSpPr txBox="1">
                <a:spLocks/>
              </p:cNvSpPr>
              <p:nvPr/>
            </p:nvSpPr>
            <p:spPr>
              <a:xfrm>
                <a:off x="520222" y="4703380"/>
                <a:ext cx="11678785" cy="196017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Model interpretation</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estimated time-varying coefficients represent the impact of the variant's sequence in its initial stage on its future dominance.</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model performance can be evaluated using the prediction R</a:t>
                </a:r>
                <a:r>
                  <a:rPr lang="en-US" sz="2000" baseline="30000" dirty="0">
                    <a:latin typeface="Times New Roman" panose="02020603050405020304" pitchFamily="18" charset="0"/>
                    <a:ea typeface="DengXian" panose="02010600030101010101" pitchFamily="2" charset="-122"/>
                    <a:cs typeface="Times New Roman" panose="02020603050405020304" pitchFamily="18" charset="0"/>
                  </a:rPr>
                  <a:t>2</a:t>
                </a:r>
                <a14:m>
                  <m:oMath xmlns:m="http://schemas.openxmlformats.org/officeDocument/2006/math">
                    <m:r>
                      <a:rPr lang="en-US" sz="2000" i="1" dirty="0" smtClean="0">
                        <a:latin typeface="Cambria Math" panose="02040503050406030204" pitchFamily="18" charset="0"/>
                        <a:ea typeface="DengXian" panose="02010600030101010101" pitchFamily="2" charset="-122"/>
                        <a:cs typeface="Times New Roman" panose="02020603050405020304" pitchFamily="18" charset="0"/>
                      </a:rPr>
                      <m:t> </m:t>
                    </m:r>
                  </m:oMath>
                </a14:m>
                <a:r>
                  <a:rPr lang="en-US" sz="2000" dirty="0">
                    <a:latin typeface="Times New Roman" panose="02020603050405020304" pitchFamily="18" charset="0"/>
                    <a:ea typeface="DengXian" panose="02010600030101010101" pitchFamily="2" charset="-122"/>
                    <a:cs typeface="Times New Roman" panose="02020603050405020304" pitchFamily="18" charset="0"/>
                  </a:rPr>
                  <a:t>and the p-values from hypothesis tests against the null model.</a:t>
                </a:r>
                <a:endParaRPr lang="en-US" sz="1900" dirty="0">
                  <a:latin typeface="Arial" panose="020B0604020202020204" pitchFamily="34" charset="0"/>
                  <a:cs typeface="Times New Roman" panose="02020603050405020304" pitchFamily="18" charset="0"/>
                </a:endParaRPr>
              </a:p>
            </p:txBody>
          </p:sp>
        </mc:Choice>
        <mc:Fallback xmlns="">
          <p:sp>
            <p:nvSpPr>
              <p:cNvPr id="23" name="Content Placeholder 2">
                <a:extLst>
                  <a:ext uri="{FF2B5EF4-FFF2-40B4-BE49-F238E27FC236}">
                    <a16:creationId xmlns:a16="http://schemas.microsoft.com/office/drawing/2014/main" id="{9F5E36A0-3FFB-22CC-BFBA-416C7AE2FAC8}"/>
                  </a:ext>
                </a:extLst>
              </p:cNvPr>
              <p:cNvSpPr txBox="1">
                <a:spLocks noRot="1" noChangeAspect="1" noMove="1" noResize="1" noEditPoints="1" noAdjustHandles="1" noChangeArrowheads="1" noChangeShapeType="1" noTextEdit="1"/>
              </p:cNvSpPr>
              <p:nvPr/>
            </p:nvSpPr>
            <p:spPr>
              <a:xfrm>
                <a:off x="520222" y="4703380"/>
                <a:ext cx="11678785" cy="1960179"/>
              </a:xfrm>
              <a:prstGeom prst="rect">
                <a:avLst/>
              </a:prstGeom>
              <a:blipFill>
                <a:blip r:embed="rId3"/>
                <a:stretch>
                  <a:fillRect l="-434" t="-1290" b="-1290"/>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28103C30-E873-0BD3-2FEC-FCF7003277CC}"/>
              </a:ext>
            </a:extLst>
          </p:cNvPr>
          <p:cNvSpPr txBox="1"/>
          <p:nvPr/>
        </p:nvSpPr>
        <p:spPr>
          <a:xfrm>
            <a:off x="11735694" y="6469095"/>
            <a:ext cx="399393" cy="369332"/>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1586769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63DB2A-1CE7-06CE-6BCE-25752F4DCB2A}"/>
              </a:ext>
            </a:extLst>
          </p:cNvPr>
          <p:cNvSpPr>
            <a:spLocks noGrp="1"/>
          </p:cNvSpPr>
          <p:nvPr>
            <p:ph type="title"/>
          </p:nvPr>
        </p:nvSpPr>
        <p:spPr>
          <a:xfrm>
            <a:off x="342527" y="119232"/>
            <a:ext cx="1933749" cy="731520"/>
          </a:xfrm>
        </p:spPr>
        <p:txBody>
          <a:bodyPr>
            <a:normAutofit/>
          </a:bodyPr>
          <a:lstStyle/>
          <a:p>
            <a:r>
              <a:rPr lang="en-US" sz="3200" b="1" dirty="0">
                <a:latin typeface="+mn-lt"/>
                <a:cs typeface="Times New Roman" panose="02020603050405020304" pitchFamily="18" charset="0"/>
              </a:rPr>
              <a:t>Results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3C2223C7-924F-F0DA-2D44-A4B07A713D07}"/>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1544708B-5D80-9374-1566-1F895EDE6A5A}"/>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table of numbers with numbers&#10;&#10;Description automatically generated">
            <a:extLst>
              <a:ext uri="{FF2B5EF4-FFF2-40B4-BE49-F238E27FC236}">
                <a16:creationId xmlns:a16="http://schemas.microsoft.com/office/drawing/2014/main" id="{14D86F5B-26CB-636A-9E54-6F5DCC237CA1}"/>
              </a:ext>
            </a:extLst>
          </p:cNvPr>
          <p:cNvPicPr>
            <a:picLocks noChangeAspect="1"/>
          </p:cNvPicPr>
          <p:nvPr/>
        </p:nvPicPr>
        <p:blipFill>
          <a:blip r:embed="rId2"/>
          <a:stretch>
            <a:fillRect/>
          </a:stretch>
        </p:blipFill>
        <p:spPr>
          <a:xfrm>
            <a:off x="1839341" y="337968"/>
            <a:ext cx="8513317" cy="6400800"/>
          </a:xfrm>
          <a:prstGeom prst="rect">
            <a:avLst/>
          </a:prstGeom>
        </p:spPr>
      </p:pic>
      <p:sp>
        <p:nvSpPr>
          <p:cNvPr id="9" name="Rectangle 8">
            <a:extLst>
              <a:ext uri="{FF2B5EF4-FFF2-40B4-BE49-F238E27FC236}">
                <a16:creationId xmlns:a16="http://schemas.microsoft.com/office/drawing/2014/main" id="{E55AF63E-19BF-FC1B-0806-A3C94FA7999F}"/>
              </a:ext>
            </a:extLst>
          </p:cNvPr>
          <p:cNvSpPr/>
          <p:nvPr/>
        </p:nvSpPr>
        <p:spPr>
          <a:xfrm>
            <a:off x="1839341" y="956441"/>
            <a:ext cx="8537814" cy="24725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CD38985-EE57-E541-A4EE-11C5123B1AB5}"/>
              </a:ext>
            </a:extLst>
          </p:cNvPr>
          <p:cNvSpPr txBox="1"/>
          <p:nvPr/>
        </p:nvSpPr>
        <p:spPr>
          <a:xfrm>
            <a:off x="10377155" y="1869554"/>
            <a:ext cx="1429407" cy="646331"/>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Predictable Countries</a:t>
            </a:r>
          </a:p>
        </p:txBody>
      </p:sp>
      <p:sp>
        <p:nvSpPr>
          <p:cNvPr id="12" name="Rectangle 11">
            <a:extLst>
              <a:ext uri="{FF2B5EF4-FFF2-40B4-BE49-F238E27FC236}">
                <a16:creationId xmlns:a16="http://schemas.microsoft.com/office/drawing/2014/main" id="{6ABA38E0-22E0-53F3-3BA7-E4FD37F6D2FE}"/>
              </a:ext>
            </a:extLst>
          </p:cNvPr>
          <p:cNvSpPr/>
          <p:nvPr/>
        </p:nvSpPr>
        <p:spPr>
          <a:xfrm>
            <a:off x="1839341" y="5475890"/>
            <a:ext cx="8537814" cy="42566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7C43DE9-0F75-F680-1025-CB52E452DC58}"/>
              </a:ext>
            </a:extLst>
          </p:cNvPr>
          <p:cNvSpPr/>
          <p:nvPr/>
        </p:nvSpPr>
        <p:spPr>
          <a:xfrm>
            <a:off x="1839341" y="4918841"/>
            <a:ext cx="8537814" cy="1996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66D7CC3-89C8-4E1F-DB04-5EC0B26288E1}"/>
              </a:ext>
            </a:extLst>
          </p:cNvPr>
          <p:cNvSpPr txBox="1"/>
          <p:nvPr/>
        </p:nvSpPr>
        <p:spPr>
          <a:xfrm>
            <a:off x="11735694" y="6469095"/>
            <a:ext cx="399393"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1504812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0602AC-21DA-8584-2A37-E5425F56FF2E}"/>
              </a:ext>
            </a:extLst>
          </p:cNvPr>
          <p:cNvSpPr>
            <a:spLocks noGrp="1"/>
          </p:cNvSpPr>
          <p:nvPr>
            <p:ph type="title"/>
          </p:nvPr>
        </p:nvSpPr>
        <p:spPr>
          <a:xfrm>
            <a:off x="342527" y="119232"/>
            <a:ext cx="1933749" cy="731520"/>
          </a:xfrm>
        </p:spPr>
        <p:txBody>
          <a:bodyPr>
            <a:normAutofit/>
          </a:bodyPr>
          <a:lstStyle/>
          <a:p>
            <a:r>
              <a:rPr lang="en-US" sz="3200" b="1" dirty="0">
                <a:latin typeface="+mn-lt"/>
                <a:cs typeface="Times New Roman" panose="02020603050405020304" pitchFamily="18" charset="0"/>
              </a:rPr>
              <a:t>Results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DDED18FE-6094-0E41-A7B6-2FA750F6CD85}"/>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F4FC433D-AE82-C083-694B-8CC36DB4E031}"/>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table of numbers with a number of numbers&#10;&#10;Description automatically generated with medium confidence">
            <a:extLst>
              <a:ext uri="{FF2B5EF4-FFF2-40B4-BE49-F238E27FC236}">
                <a16:creationId xmlns:a16="http://schemas.microsoft.com/office/drawing/2014/main" id="{B96EA3C0-7D32-728C-993E-FA8BDEB61E40}"/>
              </a:ext>
            </a:extLst>
          </p:cNvPr>
          <p:cNvPicPr>
            <a:picLocks noChangeAspect="1"/>
          </p:cNvPicPr>
          <p:nvPr/>
        </p:nvPicPr>
        <p:blipFill>
          <a:blip r:embed="rId2"/>
          <a:stretch>
            <a:fillRect/>
          </a:stretch>
        </p:blipFill>
        <p:spPr>
          <a:xfrm>
            <a:off x="1910400" y="337968"/>
            <a:ext cx="8652466" cy="6400800"/>
          </a:xfrm>
          <a:prstGeom prst="rect">
            <a:avLst/>
          </a:prstGeom>
        </p:spPr>
      </p:pic>
      <p:sp>
        <p:nvSpPr>
          <p:cNvPr id="9" name="Rectangle 8">
            <a:extLst>
              <a:ext uri="{FF2B5EF4-FFF2-40B4-BE49-F238E27FC236}">
                <a16:creationId xmlns:a16="http://schemas.microsoft.com/office/drawing/2014/main" id="{E2ACD293-99F3-9A8A-B5E1-20132CAC9CC0}"/>
              </a:ext>
            </a:extLst>
          </p:cNvPr>
          <p:cNvSpPr/>
          <p:nvPr/>
        </p:nvSpPr>
        <p:spPr>
          <a:xfrm>
            <a:off x="1910400" y="956442"/>
            <a:ext cx="8537814" cy="20600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ACEBD18-BFB3-3CB9-99CB-E4BADB553CD2}"/>
              </a:ext>
            </a:extLst>
          </p:cNvPr>
          <p:cNvSpPr txBox="1"/>
          <p:nvPr/>
        </p:nvSpPr>
        <p:spPr>
          <a:xfrm>
            <a:off x="10448214" y="1663290"/>
            <a:ext cx="1429407" cy="646331"/>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Predictable Countries</a:t>
            </a:r>
          </a:p>
        </p:txBody>
      </p:sp>
      <p:sp>
        <p:nvSpPr>
          <p:cNvPr id="11" name="Rectangle 10">
            <a:extLst>
              <a:ext uri="{FF2B5EF4-FFF2-40B4-BE49-F238E27FC236}">
                <a16:creationId xmlns:a16="http://schemas.microsoft.com/office/drawing/2014/main" id="{A3282E3F-56EE-5224-FDEF-17E9B83BC63C}"/>
              </a:ext>
            </a:extLst>
          </p:cNvPr>
          <p:cNvSpPr/>
          <p:nvPr/>
        </p:nvSpPr>
        <p:spPr>
          <a:xfrm>
            <a:off x="1967726" y="5486400"/>
            <a:ext cx="8537814" cy="1881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AAEE92-0BBB-4316-2EF9-478292071E11}"/>
              </a:ext>
            </a:extLst>
          </p:cNvPr>
          <p:cNvSpPr txBox="1"/>
          <p:nvPr/>
        </p:nvSpPr>
        <p:spPr>
          <a:xfrm>
            <a:off x="11735694" y="6469095"/>
            <a:ext cx="399393" cy="369332"/>
          </a:xfrm>
          <a:prstGeom prst="rect">
            <a:avLst/>
          </a:prstGeom>
          <a:noFill/>
        </p:spPr>
        <p:txBody>
          <a:bodyPr wrap="square" rtlCol="0">
            <a:spAutoFit/>
          </a:bodyPr>
          <a:lstStyle/>
          <a:p>
            <a:r>
              <a:rPr lang="en-US" dirty="0"/>
              <a:t>4</a:t>
            </a:r>
          </a:p>
        </p:txBody>
      </p:sp>
    </p:spTree>
    <p:extLst>
      <p:ext uri="{BB962C8B-B14F-4D97-AF65-F5344CB8AC3E}">
        <p14:creationId xmlns:p14="http://schemas.microsoft.com/office/powerpoint/2010/main" val="3519103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40BF9AE-38EF-D75B-D836-69BA3BAE5166}"/>
              </a:ext>
            </a:extLst>
          </p:cNvPr>
          <p:cNvSpPr>
            <a:spLocks noGrp="1"/>
          </p:cNvSpPr>
          <p:nvPr>
            <p:ph type="title"/>
          </p:nvPr>
        </p:nvSpPr>
        <p:spPr>
          <a:xfrm>
            <a:off x="342527" y="119232"/>
            <a:ext cx="1933749" cy="731520"/>
          </a:xfrm>
        </p:spPr>
        <p:txBody>
          <a:bodyPr>
            <a:normAutofit/>
          </a:bodyPr>
          <a:lstStyle/>
          <a:p>
            <a:r>
              <a:rPr lang="en-US" sz="3200" b="1" dirty="0">
                <a:latin typeface="+mn-lt"/>
                <a:cs typeface="Times New Roman" panose="02020603050405020304" pitchFamily="18" charset="0"/>
              </a:rPr>
              <a:t>Results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3E005A93-AAA5-83E2-5C6A-F98FAC6AB81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A8E1D1E5-F7B2-C334-7B18-0C12B5156E8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7" name="Content Placeholder 2">
            <a:extLst>
              <a:ext uri="{FF2B5EF4-FFF2-40B4-BE49-F238E27FC236}">
                <a16:creationId xmlns:a16="http://schemas.microsoft.com/office/drawing/2014/main" id="{C059FBF6-FA73-A5B0-16B0-67CAC9341DC0}"/>
              </a:ext>
            </a:extLst>
          </p:cNvPr>
          <p:cNvSpPr txBox="1">
            <a:spLocks/>
          </p:cNvSpPr>
          <p:nvPr/>
        </p:nvSpPr>
        <p:spPr>
          <a:xfrm>
            <a:off x="405280" y="872668"/>
            <a:ext cx="11678785" cy="13400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Model interpretation</a:t>
            </a:r>
          </a:p>
          <a:p>
            <a:pPr lvl="1">
              <a:lnSpc>
                <a:spcPct val="120000"/>
              </a:lnSpc>
            </a:pPr>
            <a:r>
              <a:rPr lang="en-US" sz="2000" b="1" dirty="0">
                <a:latin typeface="Times New Roman" panose="02020603050405020304" pitchFamily="18" charset="0"/>
                <a:ea typeface="DengXian" panose="02010600030101010101" pitchFamily="2" charset="-122"/>
                <a:cs typeface="Times New Roman" panose="02020603050405020304" pitchFamily="18" charset="0"/>
              </a:rPr>
              <a:t>Input</a:t>
            </a:r>
            <a:r>
              <a:rPr lang="en-US" sz="2000" dirty="0">
                <a:latin typeface="Times New Roman" panose="02020603050405020304" pitchFamily="18" charset="0"/>
                <a:ea typeface="DengXian" panose="02010600030101010101" pitchFamily="2" charset="-122"/>
                <a:cs typeface="Times New Roman" panose="02020603050405020304" pitchFamily="18" charset="0"/>
              </a:rPr>
              <a:t>: first 30 days share of the variants; </a:t>
            </a:r>
            <a:r>
              <a:rPr lang="en-US" sz="2000" b="1" dirty="0">
                <a:latin typeface="Times New Roman" panose="02020603050405020304" pitchFamily="18" charset="0"/>
                <a:ea typeface="DengXian" panose="02010600030101010101" pitchFamily="2" charset="-122"/>
                <a:cs typeface="Times New Roman" panose="02020603050405020304" pitchFamily="18" charset="0"/>
              </a:rPr>
              <a:t>Output</a:t>
            </a:r>
            <a:r>
              <a:rPr lang="en-US" sz="2000" dirty="0">
                <a:latin typeface="Times New Roman" panose="02020603050405020304" pitchFamily="18" charset="0"/>
                <a:ea typeface="DengXian" panose="02010600030101010101" pitchFamily="2" charset="-122"/>
                <a:cs typeface="Times New Roman" panose="02020603050405020304" pitchFamily="18" charset="0"/>
              </a:rPr>
              <a:t>: sum of the monthly share; </a:t>
            </a:r>
          </a:p>
          <a:p>
            <a:pPr lvl="1">
              <a:lnSpc>
                <a:spcPct val="120000"/>
              </a:lnSpc>
            </a:pPr>
            <a:r>
              <a:rPr lang="en-US" sz="2000" b="1" dirty="0">
                <a:latin typeface="Times New Roman" panose="02020603050405020304" pitchFamily="18" charset="0"/>
                <a:ea typeface="DengXian" panose="02010600030101010101" pitchFamily="2" charset="-122"/>
                <a:cs typeface="Times New Roman" panose="02020603050405020304" pitchFamily="18" charset="0"/>
              </a:rPr>
              <a:t>Country selected</a:t>
            </a:r>
            <a:r>
              <a:rPr lang="en-US" sz="2000" dirty="0">
                <a:latin typeface="Times New Roman" panose="02020603050405020304" pitchFamily="18" charset="0"/>
                <a:ea typeface="DengXian" panose="02010600030101010101" pitchFamily="2" charset="-122"/>
                <a:cs typeface="Times New Roman" panose="02020603050405020304" pitchFamily="18" charset="0"/>
              </a:rPr>
              <a:t>: South Korea. </a:t>
            </a:r>
          </a:p>
        </p:txBody>
      </p:sp>
      <p:pic>
        <p:nvPicPr>
          <p:cNvPr id="9" name="Picture 8" descr="A graph of a graph&#10;&#10;Description automatically generated">
            <a:extLst>
              <a:ext uri="{FF2B5EF4-FFF2-40B4-BE49-F238E27FC236}">
                <a16:creationId xmlns:a16="http://schemas.microsoft.com/office/drawing/2014/main" id="{D7C1BE76-0B72-492A-60DA-104A59221D43}"/>
              </a:ext>
            </a:extLst>
          </p:cNvPr>
          <p:cNvPicPr>
            <a:picLocks noChangeAspect="1"/>
          </p:cNvPicPr>
          <p:nvPr/>
        </p:nvPicPr>
        <p:blipFill>
          <a:blip r:embed="rId2"/>
          <a:stretch>
            <a:fillRect/>
          </a:stretch>
        </p:blipFill>
        <p:spPr>
          <a:xfrm>
            <a:off x="2061341" y="2234652"/>
            <a:ext cx="8069317" cy="4671709"/>
          </a:xfrm>
          <a:prstGeom prst="rect">
            <a:avLst/>
          </a:prstGeom>
        </p:spPr>
      </p:pic>
      <p:sp>
        <p:nvSpPr>
          <p:cNvPr id="10" name="Rectangle 9">
            <a:extLst>
              <a:ext uri="{FF2B5EF4-FFF2-40B4-BE49-F238E27FC236}">
                <a16:creationId xmlns:a16="http://schemas.microsoft.com/office/drawing/2014/main" id="{12F5A90F-7223-F2C8-9DEA-FBA507330614}"/>
              </a:ext>
            </a:extLst>
          </p:cNvPr>
          <p:cNvSpPr/>
          <p:nvPr/>
        </p:nvSpPr>
        <p:spPr>
          <a:xfrm>
            <a:off x="5213131" y="2585237"/>
            <a:ext cx="2585546" cy="37314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AEF3F03-A234-686B-C691-16B760AED883}"/>
              </a:ext>
            </a:extLst>
          </p:cNvPr>
          <p:cNvSpPr txBox="1"/>
          <p:nvPr/>
        </p:nvSpPr>
        <p:spPr>
          <a:xfrm>
            <a:off x="11735694" y="6469095"/>
            <a:ext cx="399393" cy="369332"/>
          </a:xfrm>
          <a:prstGeom prst="rect">
            <a:avLst/>
          </a:prstGeom>
          <a:noFill/>
        </p:spPr>
        <p:txBody>
          <a:bodyPr wrap="square" rtlCol="0">
            <a:spAutoFit/>
          </a:bodyPr>
          <a:lstStyle/>
          <a:p>
            <a:r>
              <a:rPr lang="en-US" dirty="0"/>
              <a:t>5</a:t>
            </a:r>
          </a:p>
        </p:txBody>
      </p:sp>
    </p:spTree>
    <p:extLst>
      <p:ext uri="{BB962C8B-B14F-4D97-AF65-F5344CB8AC3E}">
        <p14:creationId xmlns:p14="http://schemas.microsoft.com/office/powerpoint/2010/main" val="3458315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4" descr="A graph of a graph&#10;&#10;Description automatically generated">
            <a:extLst>
              <a:ext uri="{FF2B5EF4-FFF2-40B4-BE49-F238E27FC236}">
                <a16:creationId xmlns:a16="http://schemas.microsoft.com/office/drawing/2014/main" id="{6A5CCB09-71A1-9F97-8D11-F814189501E0}"/>
              </a:ext>
            </a:extLst>
          </p:cNvPr>
          <p:cNvPicPr>
            <a:picLocks noGrp="1" noChangeAspect="1"/>
          </p:cNvPicPr>
          <p:nvPr>
            <p:ph idx="1"/>
          </p:nvPr>
        </p:nvPicPr>
        <p:blipFill>
          <a:blip r:embed="rId2"/>
          <a:stretch>
            <a:fillRect/>
          </a:stretch>
        </p:blipFill>
        <p:spPr>
          <a:xfrm>
            <a:off x="1932544" y="2234652"/>
            <a:ext cx="8326912" cy="4351338"/>
          </a:xfrm>
        </p:spPr>
      </p:pic>
      <p:sp>
        <p:nvSpPr>
          <p:cNvPr id="9" name="Title 1">
            <a:extLst>
              <a:ext uri="{FF2B5EF4-FFF2-40B4-BE49-F238E27FC236}">
                <a16:creationId xmlns:a16="http://schemas.microsoft.com/office/drawing/2014/main" id="{099FA573-435F-07A8-F385-6A4DEDC7E6D0}"/>
              </a:ext>
            </a:extLst>
          </p:cNvPr>
          <p:cNvSpPr>
            <a:spLocks noGrp="1"/>
          </p:cNvSpPr>
          <p:nvPr>
            <p:ph type="title"/>
          </p:nvPr>
        </p:nvSpPr>
        <p:spPr>
          <a:xfrm>
            <a:off x="342527" y="119232"/>
            <a:ext cx="1933749" cy="731520"/>
          </a:xfrm>
        </p:spPr>
        <p:txBody>
          <a:bodyPr>
            <a:normAutofit/>
          </a:bodyPr>
          <a:lstStyle/>
          <a:p>
            <a:r>
              <a:rPr lang="en-US" sz="3200" b="1" dirty="0">
                <a:latin typeface="+mn-lt"/>
                <a:cs typeface="Times New Roman" panose="02020603050405020304" pitchFamily="18" charset="0"/>
              </a:rPr>
              <a:t>Results</a:t>
            </a:r>
            <a:endParaRPr lang="en-US" sz="3600" b="1" dirty="0">
              <a:latin typeface="+mn-lt"/>
              <a:cs typeface="Times New Roman" panose="02020603050405020304" pitchFamily="18" charset="0"/>
            </a:endParaRPr>
          </a:p>
        </p:txBody>
      </p:sp>
      <p:sp>
        <p:nvSpPr>
          <p:cNvPr id="10" name="직사각형 3">
            <a:extLst>
              <a:ext uri="{FF2B5EF4-FFF2-40B4-BE49-F238E27FC236}">
                <a16:creationId xmlns:a16="http://schemas.microsoft.com/office/drawing/2014/main" id="{385EE59B-EDC2-9CA2-EDA1-0DEAD52668A8}"/>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8">
            <a:extLst>
              <a:ext uri="{FF2B5EF4-FFF2-40B4-BE49-F238E27FC236}">
                <a16:creationId xmlns:a16="http://schemas.microsoft.com/office/drawing/2014/main" id="{D96D16F8-49B3-8309-83D5-7EC2E112A8C8}"/>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12" name="Content Placeholder 2">
            <a:extLst>
              <a:ext uri="{FF2B5EF4-FFF2-40B4-BE49-F238E27FC236}">
                <a16:creationId xmlns:a16="http://schemas.microsoft.com/office/drawing/2014/main" id="{125C059C-2A8E-ACE2-B884-46729C82782A}"/>
              </a:ext>
            </a:extLst>
          </p:cNvPr>
          <p:cNvSpPr txBox="1">
            <a:spLocks/>
          </p:cNvSpPr>
          <p:nvPr/>
        </p:nvSpPr>
        <p:spPr>
          <a:xfrm>
            <a:off x="405280" y="872668"/>
            <a:ext cx="11678785" cy="13400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Model interpretation</a:t>
            </a:r>
          </a:p>
          <a:p>
            <a:pPr lvl="1">
              <a:lnSpc>
                <a:spcPct val="120000"/>
              </a:lnSpc>
            </a:pPr>
            <a:r>
              <a:rPr lang="en-US" sz="2000" b="1" dirty="0">
                <a:latin typeface="Times New Roman" panose="02020603050405020304" pitchFamily="18" charset="0"/>
                <a:ea typeface="DengXian" panose="02010600030101010101" pitchFamily="2" charset="-122"/>
                <a:cs typeface="Times New Roman" panose="02020603050405020304" pitchFamily="18" charset="0"/>
              </a:rPr>
              <a:t>Input</a:t>
            </a:r>
            <a:r>
              <a:rPr lang="en-US" sz="2000" dirty="0">
                <a:latin typeface="Times New Roman" panose="02020603050405020304" pitchFamily="18" charset="0"/>
                <a:ea typeface="DengXian" panose="02010600030101010101" pitchFamily="2" charset="-122"/>
                <a:cs typeface="Times New Roman" panose="02020603050405020304" pitchFamily="18" charset="0"/>
              </a:rPr>
              <a:t>: first 60 days share of the variants; </a:t>
            </a:r>
            <a:r>
              <a:rPr lang="en-US" sz="2000" b="1" dirty="0">
                <a:latin typeface="Times New Roman" panose="02020603050405020304" pitchFamily="18" charset="0"/>
                <a:ea typeface="DengXian" panose="02010600030101010101" pitchFamily="2" charset="-122"/>
                <a:cs typeface="Times New Roman" panose="02020603050405020304" pitchFamily="18" charset="0"/>
              </a:rPr>
              <a:t>Output</a:t>
            </a:r>
            <a:r>
              <a:rPr lang="en-US" sz="2000" dirty="0">
                <a:latin typeface="Times New Roman" panose="02020603050405020304" pitchFamily="18" charset="0"/>
                <a:ea typeface="DengXian" panose="02010600030101010101" pitchFamily="2" charset="-122"/>
                <a:cs typeface="Times New Roman" panose="02020603050405020304" pitchFamily="18" charset="0"/>
              </a:rPr>
              <a:t>: sum of the monthly share; </a:t>
            </a:r>
          </a:p>
          <a:p>
            <a:pPr lvl="1">
              <a:lnSpc>
                <a:spcPct val="120000"/>
              </a:lnSpc>
            </a:pPr>
            <a:r>
              <a:rPr lang="en-US" sz="2000" b="1" dirty="0">
                <a:latin typeface="Times New Roman" panose="02020603050405020304" pitchFamily="18" charset="0"/>
                <a:ea typeface="DengXian" panose="02010600030101010101" pitchFamily="2" charset="-122"/>
                <a:cs typeface="Times New Roman" panose="02020603050405020304" pitchFamily="18" charset="0"/>
              </a:rPr>
              <a:t>Country selected</a:t>
            </a:r>
            <a:r>
              <a:rPr lang="en-US" sz="2000" dirty="0">
                <a:latin typeface="Times New Roman" panose="02020603050405020304" pitchFamily="18" charset="0"/>
                <a:ea typeface="DengXian" panose="02010600030101010101" pitchFamily="2" charset="-122"/>
                <a:cs typeface="Times New Roman" panose="02020603050405020304" pitchFamily="18" charset="0"/>
              </a:rPr>
              <a:t>: South Korea. </a:t>
            </a:r>
          </a:p>
        </p:txBody>
      </p:sp>
      <p:sp>
        <p:nvSpPr>
          <p:cNvPr id="13" name="Rectangle 12">
            <a:extLst>
              <a:ext uri="{FF2B5EF4-FFF2-40B4-BE49-F238E27FC236}">
                <a16:creationId xmlns:a16="http://schemas.microsoft.com/office/drawing/2014/main" id="{E6634714-3190-C7DB-CB7C-E9747AB244C6}"/>
              </a:ext>
            </a:extLst>
          </p:cNvPr>
          <p:cNvSpPr/>
          <p:nvPr/>
        </p:nvSpPr>
        <p:spPr>
          <a:xfrm>
            <a:off x="3867806" y="2364520"/>
            <a:ext cx="2974428" cy="36208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D5F10A4-74C3-8576-1051-D2484470C548}"/>
              </a:ext>
            </a:extLst>
          </p:cNvPr>
          <p:cNvSpPr txBox="1"/>
          <p:nvPr/>
        </p:nvSpPr>
        <p:spPr>
          <a:xfrm>
            <a:off x="11735694" y="6469095"/>
            <a:ext cx="399393" cy="369332"/>
          </a:xfrm>
          <a:prstGeom prst="rect">
            <a:avLst/>
          </a:prstGeom>
          <a:noFill/>
        </p:spPr>
        <p:txBody>
          <a:bodyPr wrap="square" rtlCol="0">
            <a:spAutoFit/>
          </a:bodyPr>
          <a:lstStyle/>
          <a:p>
            <a:r>
              <a:rPr lang="en-US" dirty="0"/>
              <a:t>6</a:t>
            </a:r>
          </a:p>
        </p:txBody>
      </p:sp>
    </p:spTree>
    <p:extLst>
      <p:ext uri="{BB962C8B-B14F-4D97-AF65-F5344CB8AC3E}">
        <p14:creationId xmlns:p14="http://schemas.microsoft.com/office/powerpoint/2010/main" val="298309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730642-FB81-B23B-F8B5-73E7EFD78CC5}"/>
              </a:ext>
            </a:extLst>
          </p:cNvPr>
          <p:cNvSpPr>
            <a:spLocks noGrp="1"/>
          </p:cNvSpPr>
          <p:nvPr>
            <p:ph type="title"/>
          </p:nvPr>
        </p:nvSpPr>
        <p:spPr>
          <a:xfrm>
            <a:off x="342527" y="119232"/>
            <a:ext cx="2095873" cy="731520"/>
          </a:xfrm>
        </p:spPr>
        <p:txBody>
          <a:bodyPr>
            <a:normAutofit fontScale="90000"/>
          </a:bodyPr>
          <a:lstStyle/>
          <a:p>
            <a:r>
              <a:rPr lang="en-US" sz="3200" b="1" dirty="0">
                <a:latin typeface="+mn-lt"/>
                <a:cs typeface="Times New Roman" panose="02020603050405020304" pitchFamily="18" charset="0"/>
              </a:rPr>
              <a:t>Discussion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044F343F-1DF2-8263-F005-BA19290D3812}"/>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9BE65B30-A98C-27B5-4F56-A7217EE0CA12}"/>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7" name="Content Placeholder 2">
            <a:extLst>
              <a:ext uri="{FF2B5EF4-FFF2-40B4-BE49-F238E27FC236}">
                <a16:creationId xmlns:a16="http://schemas.microsoft.com/office/drawing/2014/main" id="{74C8D032-84D9-3B1C-C890-1283A3627F90}"/>
              </a:ext>
            </a:extLst>
          </p:cNvPr>
          <p:cNvSpPr txBox="1">
            <a:spLocks/>
          </p:cNvSpPr>
          <p:nvPr/>
        </p:nvSpPr>
        <p:spPr>
          <a:xfrm>
            <a:off x="405280" y="872668"/>
            <a:ext cx="11678785" cy="2427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Pros</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model can provide a reasonably accurate prediction of the future dominance of variants, based solely on the initial stage of frequency or share, for some countries.</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For example, in the case of South Korea, the period from day 10 to day 20 makes the largest contribution to the model's prediction, as revealed by the fluctuation in the time-varying coefficients.</a:t>
            </a:r>
          </a:p>
        </p:txBody>
      </p:sp>
      <p:sp>
        <p:nvSpPr>
          <p:cNvPr id="8" name="Content Placeholder 2">
            <a:extLst>
              <a:ext uri="{FF2B5EF4-FFF2-40B4-BE49-F238E27FC236}">
                <a16:creationId xmlns:a16="http://schemas.microsoft.com/office/drawing/2014/main" id="{4A3BA3C3-10E4-3ADA-95E8-09CBAE0FFC19}"/>
              </a:ext>
            </a:extLst>
          </p:cNvPr>
          <p:cNvSpPr txBox="1">
            <a:spLocks/>
          </p:cNvSpPr>
          <p:nvPr/>
        </p:nvSpPr>
        <p:spPr>
          <a:xfrm>
            <a:off x="513215" y="3429000"/>
            <a:ext cx="11678785" cy="2427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Cons</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prediction R squared values are low for some countries, even when compared to simple linear  regression.</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patterns of the basis functions, or the functional analysis in general, are difficult to interpret in terms of a clear positive or negative impact over time.</a:t>
            </a:r>
          </a:p>
        </p:txBody>
      </p:sp>
      <p:sp>
        <p:nvSpPr>
          <p:cNvPr id="9" name="TextBox 8">
            <a:extLst>
              <a:ext uri="{FF2B5EF4-FFF2-40B4-BE49-F238E27FC236}">
                <a16:creationId xmlns:a16="http://schemas.microsoft.com/office/drawing/2014/main" id="{22353857-6317-1D80-E2A1-BC53FA7709A3}"/>
              </a:ext>
            </a:extLst>
          </p:cNvPr>
          <p:cNvSpPr txBox="1"/>
          <p:nvPr/>
        </p:nvSpPr>
        <p:spPr>
          <a:xfrm>
            <a:off x="11735694" y="6469095"/>
            <a:ext cx="399393" cy="369332"/>
          </a:xfrm>
          <a:prstGeom prst="rect">
            <a:avLst/>
          </a:prstGeom>
          <a:noFill/>
        </p:spPr>
        <p:txBody>
          <a:bodyPr wrap="square" rtlCol="0">
            <a:spAutoFit/>
          </a:bodyPr>
          <a:lstStyle/>
          <a:p>
            <a:r>
              <a:rPr lang="en-US" dirty="0"/>
              <a:t>7</a:t>
            </a:r>
          </a:p>
        </p:txBody>
      </p:sp>
    </p:spTree>
    <p:extLst>
      <p:ext uri="{BB962C8B-B14F-4D97-AF65-F5344CB8AC3E}">
        <p14:creationId xmlns:p14="http://schemas.microsoft.com/office/powerpoint/2010/main" val="3950183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2135-CCDA-0BCA-D6AE-3010718BD1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9A3F749-EA16-A406-CA8A-2922B7BD3E5F}"/>
              </a:ext>
            </a:extLst>
          </p:cNvPr>
          <p:cNvSpPr txBox="1">
            <a:spLocks/>
          </p:cNvSpPr>
          <p:nvPr/>
        </p:nvSpPr>
        <p:spPr>
          <a:xfrm>
            <a:off x="605658" y="2103437"/>
            <a:ext cx="10980683"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ko-KR" sz="3200" b="1" dirty="0">
                <a:latin typeface="Times New Roman" panose="02020603050405020304" pitchFamily="18" charset="0"/>
                <a:cs typeface="Times New Roman" panose="02020603050405020304" pitchFamily="18" charset="0"/>
              </a:rPr>
              <a:t>Global Hospitalization/Infection Rate Prediction Using Variant Share Sequences</a:t>
            </a:r>
          </a:p>
        </p:txBody>
      </p:sp>
    </p:spTree>
    <p:extLst>
      <p:ext uri="{BB962C8B-B14F-4D97-AF65-F5344CB8AC3E}">
        <p14:creationId xmlns:p14="http://schemas.microsoft.com/office/powerpoint/2010/main" val="2221889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1B1C068-9196-B559-F275-8CF92BAE6893}"/>
              </a:ext>
            </a:extLst>
          </p:cNvPr>
          <p:cNvSpPr txBox="1">
            <a:spLocks/>
          </p:cNvSpPr>
          <p:nvPr/>
        </p:nvSpPr>
        <p:spPr>
          <a:xfrm>
            <a:off x="256606" y="331076"/>
            <a:ext cx="11678785" cy="2266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Data Description</a:t>
            </a:r>
          </a:p>
          <a:p>
            <a:pPr lvl="1">
              <a:lnSpc>
                <a:spcPct val="120000"/>
              </a:lnSpc>
            </a:pP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 Linking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22 shared classified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data to the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Hospitalization and Infection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from</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 Our World in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website. </a:t>
            </a:r>
            <a:endParaRPr lang="en-US" sz="2000" dirty="0">
              <a:effectLst/>
              <a:latin typeface="Times New Roman" panose="02020603050405020304" pitchFamily="18" charset="0"/>
              <a:ea typeface="DengXian" panose="02010600030101010101" pitchFamily="2" charset="-122"/>
            </a:endParaRP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hospitalization-infection (Hosp-Infec) rate was calculated as a sequence, and the problem was modeled as a multiple time series prediction problem.</a:t>
            </a:r>
            <a:endParaRPr lang="en-US" sz="1900" dirty="0">
              <a:latin typeface="Arial" panose="020B0604020202020204" pitchFamily="34"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BEFFD43-C486-DF54-EE6E-FE03DC33D650}"/>
              </a:ext>
            </a:extLst>
          </p:cNvPr>
          <p:cNvSpPr txBox="1">
            <a:spLocks/>
          </p:cNvSpPr>
          <p:nvPr/>
        </p:nvSpPr>
        <p:spPr>
          <a:xfrm>
            <a:off x="256606" y="3168870"/>
            <a:ext cx="11678785" cy="1886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Definition and Methodology</a:t>
            </a:r>
          </a:p>
          <a:p>
            <a:pPr lvl="1">
              <a:lnSpc>
                <a:spcPct val="120000"/>
              </a:lnSpc>
            </a:pPr>
            <a:r>
              <a:rPr lang="en-US" sz="2000" dirty="0">
                <a:latin typeface="Times New Roman" panose="02020603050405020304" pitchFamily="18" charset="0"/>
                <a:ea typeface="DengXian" panose="02010600030101010101" pitchFamily="2" charset="-122"/>
              </a:rPr>
              <a:t>The Hosp-Infec rate was calculated using the absolute number of infections and hospitalizations recorded.</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a:t>
            </a:r>
            <a:r>
              <a:rPr lang="en-US" sz="2000" b="1" dirty="0" err="1">
                <a:latin typeface="Times New Roman" panose="02020603050405020304" pitchFamily="18" charset="0"/>
                <a:ea typeface="DengXian" panose="02010600030101010101" pitchFamily="2" charset="-122"/>
                <a:cs typeface="Times New Roman" panose="02020603050405020304" pitchFamily="18" charset="0"/>
              </a:rPr>
              <a:t>XGBoost</a:t>
            </a:r>
            <a:r>
              <a:rPr lang="en-US" sz="2000" dirty="0">
                <a:latin typeface="Times New Roman" panose="02020603050405020304" pitchFamily="18" charset="0"/>
                <a:ea typeface="DengXian" panose="02010600030101010101" pitchFamily="2" charset="-122"/>
                <a:cs typeface="Times New Roman" panose="02020603050405020304" pitchFamily="18" charset="0"/>
              </a:rPr>
              <a:t> model was applied for multiple time series predictions to better provide the desired interpretation, specifically focusing on the contribution of different variants to the prediction.</a:t>
            </a:r>
          </a:p>
        </p:txBody>
      </p:sp>
      <p:sp>
        <p:nvSpPr>
          <p:cNvPr id="6" name="TextBox 5">
            <a:extLst>
              <a:ext uri="{FF2B5EF4-FFF2-40B4-BE49-F238E27FC236}">
                <a16:creationId xmlns:a16="http://schemas.microsoft.com/office/drawing/2014/main" id="{D34D104D-3099-2F2A-669A-9F32F8315402}"/>
              </a:ext>
            </a:extLst>
          </p:cNvPr>
          <p:cNvSpPr txBox="1"/>
          <p:nvPr/>
        </p:nvSpPr>
        <p:spPr>
          <a:xfrm>
            <a:off x="11735694" y="6469095"/>
            <a:ext cx="399393" cy="369332"/>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1429092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E70C1D-406C-7AF0-40AA-443AC9779F8D}"/>
              </a:ext>
            </a:extLst>
          </p:cNvPr>
          <p:cNvSpPr>
            <a:spLocks noGrp="1"/>
          </p:cNvSpPr>
          <p:nvPr>
            <p:ph type="title"/>
          </p:nvPr>
        </p:nvSpPr>
        <p:spPr>
          <a:xfrm>
            <a:off x="342527" y="119232"/>
            <a:ext cx="1933749" cy="731520"/>
          </a:xfrm>
        </p:spPr>
        <p:txBody>
          <a:bodyPr>
            <a:normAutofit/>
          </a:bodyPr>
          <a:lstStyle/>
          <a:p>
            <a:r>
              <a:rPr lang="en-US" sz="3200" b="1" dirty="0">
                <a:latin typeface="+mn-lt"/>
                <a:cs typeface="Times New Roman" panose="02020603050405020304" pitchFamily="18" charset="0"/>
              </a:rPr>
              <a:t>Results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A127CCC1-9CB1-4523-86B6-4B69C0547E57}"/>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3185C45D-8BDD-A3AF-1350-627FD4EBFBD3}"/>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7" name="Picture 6">
            <a:extLst>
              <a:ext uri="{FF2B5EF4-FFF2-40B4-BE49-F238E27FC236}">
                <a16:creationId xmlns:a16="http://schemas.microsoft.com/office/drawing/2014/main" id="{C0C0DDD8-0CAA-EFC1-A4CA-03CD5A2E216A}"/>
              </a:ext>
            </a:extLst>
          </p:cNvPr>
          <p:cNvPicPr>
            <a:picLocks noChangeAspect="1"/>
          </p:cNvPicPr>
          <p:nvPr/>
        </p:nvPicPr>
        <p:blipFill>
          <a:blip r:embed="rId2"/>
          <a:stretch>
            <a:fillRect/>
          </a:stretch>
        </p:blipFill>
        <p:spPr>
          <a:xfrm>
            <a:off x="163233" y="1129639"/>
            <a:ext cx="11902643" cy="5728361"/>
          </a:xfrm>
          <a:prstGeom prst="rect">
            <a:avLst/>
          </a:prstGeom>
        </p:spPr>
      </p:pic>
      <p:sp>
        <p:nvSpPr>
          <p:cNvPr id="8" name="TextBox 7">
            <a:extLst>
              <a:ext uri="{FF2B5EF4-FFF2-40B4-BE49-F238E27FC236}">
                <a16:creationId xmlns:a16="http://schemas.microsoft.com/office/drawing/2014/main" id="{D21DC7FA-7C40-DCD6-B8DF-F11E5AC9601A}"/>
              </a:ext>
            </a:extLst>
          </p:cNvPr>
          <p:cNvSpPr txBox="1"/>
          <p:nvPr/>
        </p:nvSpPr>
        <p:spPr>
          <a:xfrm>
            <a:off x="4726122" y="760307"/>
            <a:ext cx="2739756"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South Korea</a:t>
            </a:r>
          </a:p>
        </p:txBody>
      </p:sp>
      <p:sp>
        <p:nvSpPr>
          <p:cNvPr id="9" name="Rectangle 8">
            <a:extLst>
              <a:ext uri="{FF2B5EF4-FFF2-40B4-BE49-F238E27FC236}">
                <a16:creationId xmlns:a16="http://schemas.microsoft.com/office/drawing/2014/main" id="{337B778B-3B56-A5D9-9629-FC193831900A}"/>
              </a:ext>
            </a:extLst>
          </p:cNvPr>
          <p:cNvSpPr/>
          <p:nvPr/>
        </p:nvSpPr>
        <p:spPr>
          <a:xfrm>
            <a:off x="672693" y="1220084"/>
            <a:ext cx="11356074" cy="9975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CACCD9A-74F5-4DF3-67DD-5C48C5F7A8F6}"/>
              </a:ext>
            </a:extLst>
          </p:cNvPr>
          <p:cNvSpPr txBox="1"/>
          <p:nvPr/>
        </p:nvSpPr>
        <p:spPr>
          <a:xfrm>
            <a:off x="10040823" y="2782669"/>
            <a:ext cx="1429407" cy="646331"/>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AY.122</a:t>
            </a:r>
          </a:p>
          <a:p>
            <a:r>
              <a:rPr lang="en-US" b="1" dirty="0">
                <a:solidFill>
                  <a:srgbClr val="FF0000"/>
                </a:solidFill>
                <a:latin typeface="Times New Roman" panose="02020603050405020304" pitchFamily="18" charset="0"/>
                <a:cs typeface="Times New Roman" panose="02020603050405020304" pitchFamily="18" charset="0"/>
              </a:rPr>
              <a:t>B.1.617</a:t>
            </a:r>
          </a:p>
        </p:txBody>
      </p:sp>
      <p:sp>
        <p:nvSpPr>
          <p:cNvPr id="11" name="TextBox 10">
            <a:extLst>
              <a:ext uri="{FF2B5EF4-FFF2-40B4-BE49-F238E27FC236}">
                <a16:creationId xmlns:a16="http://schemas.microsoft.com/office/drawing/2014/main" id="{7AA88E6D-CA4B-FA82-3543-C28F60929113}"/>
              </a:ext>
            </a:extLst>
          </p:cNvPr>
          <p:cNvSpPr txBox="1"/>
          <p:nvPr/>
        </p:nvSpPr>
        <p:spPr>
          <a:xfrm>
            <a:off x="11735694" y="6469095"/>
            <a:ext cx="399393" cy="369332"/>
          </a:xfrm>
          <a:prstGeom prst="rect">
            <a:avLst/>
          </a:prstGeom>
          <a:noFill/>
        </p:spPr>
        <p:txBody>
          <a:bodyPr wrap="square" rtlCol="0">
            <a:spAutoFit/>
          </a:bodyPr>
          <a:lstStyle/>
          <a:p>
            <a:r>
              <a:rPr lang="en-US" dirty="0"/>
              <a:t>9</a:t>
            </a:r>
          </a:p>
        </p:txBody>
      </p:sp>
    </p:spTree>
    <p:extLst>
      <p:ext uri="{BB962C8B-B14F-4D97-AF65-F5344CB8AC3E}">
        <p14:creationId xmlns:p14="http://schemas.microsoft.com/office/powerpoint/2010/main" val="3660876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990CC-5C9F-14E5-F7B0-29448DA05BD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611F84-6327-EAF3-9587-231FAFA06518}"/>
              </a:ext>
            </a:extLst>
          </p:cNvPr>
          <p:cNvSpPr>
            <a:spLocks noGrp="1"/>
          </p:cNvSpPr>
          <p:nvPr>
            <p:ph type="title"/>
          </p:nvPr>
        </p:nvSpPr>
        <p:spPr>
          <a:xfrm>
            <a:off x="342527" y="119232"/>
            <a:ext cx="1933749" cy="731520"/>
          </a:xfrm>
        </p:spPr>
        <p:txBody>
          <a:bodyPr>
            <a:normAutofit/>
          </a:bodyPr>
          <a:lstStyle/>
          <a:p>
            <a:r>
              <a:rPr lang="en-US" sz="3200" b="1" dirty="0">
                <a:latin typeface="+mn-lt"/>
                <a:cs typeface="Times New Roman" panose="02020603050405020304" pitchFamily="18" charset="0"/>
              </a:rPr>
              <a:t>Results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004F4F25-52A9-AFD0-0591-5BE22C690CDE}"/>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19E01CDB-C1D8-A7A6-B2C3-161CC01A43C3}"/>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E1C5C7D4-1B93-713A-0DC1-31BD1FE022EC}"/>
              </a:ext>
            </a:extLst>
          </p:cNvPr>
          <p:cNvSpPr txBox="1"/>
          <p:nvPr/>
        </p:nvSpPr>
        <p:spPr>
          <a:xfrm>
            <a:off x="4726122" y="760307"/>
            <a:ext cx="2739756"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Untied Kingdom</a:t>
            </a:r>
          </a:p>
        </p:txBody>
      </p:sp>
      <p:pic>
        <p:nvPicPr>
          <p:cNvPr id="2" name="Picture 1">
            <a:extLst>
              <a:ext uri="{FF2B5EF4-FFF2-40B4-BE49-F238E27FC236}">
                <a16:creationId xmlns:a16="http://schemas.microsoft.com/office/drawing/2014/main" id="{B4568583-97EB-7ACF-2A31-A162D3A4EF02}"/>
              </a:ext>
            </a:extLst>
          </p:cNvPr>
          <p:cNvPicPr>
            <a:picLocks noChangeAspect="1"/>
          </p:cNvPicPr>
          <p:nvPr/>
        </p:nvPicPr>
        <p:blipFill>
          <a:blip r:embed="rId2"/>
          <a:stretch>
            <a:fillRect/>
          </a:stretch>
        </p:blipFill>
        <p:spPr>
          <a:xfrm>
            <a:off x="280570" y="1129639"/>
            <a:ext cx="11630860" cy="5609129"/>
          </a:xfrm>
          <a:prstGeom prst="rect">
            <a:avLst/>
          </a:prstGeom>
        </p:spPr>
      </p:pic>
      <p:sp>
        <p:nvSpPr>
          <p:cNvPr id="3" name="Rectangle 2">
            <a:extLst>
              <a:ext uri="{FF2B5EF4-FFF2-40B4-BE49-F238E27FC236}">
                <a16:creationId xmlns:a16="http://schemas.microsoft.com/office/drawing/2014/main" id="{EC57242E-F4BB-938B-0065-FADAA41489F8}"/>
              </a:ext>
            </a:extLst>
          </p:cNvPr>
          <p:cNvSpPr/>
          <p:nvPr/>
        </p:nvSpPr>
        <p:spPr>
          <a:xfrm>
            <a:off x="555356" y="1498971"/>
            <a:ext cx="11356074" cy="19090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AEFE733-B21E-146F-8865-E110E8DB4B62}"/>
              </a:ext>
            </a:extLst>
          </p:cNvPr>
          <p:cNvSpPr txBox="1"/>
          <p:nvPr/>
        </p:nvSpPr>
        <p:spPr>
          <a:xfrm>
            <a:off x="10072354" y="3450021"/>
            <a:ext cx="1429407" cy="923330"/>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B.1</a:t>
            </a:r>
          </a:p>
          <a:p>
            <a:r>
              <a:rPr lang="en-US" b="1" dirty="0">
                <a:solidFill>
                  <a:srgbClr val="FF0000"/>
                </a:solidFill>
                <a:latin typeface="Times New Roman" panose="02020603050405020304" pitchFamily="18" charset="0"/>
                <a:cs typeface="Times New Roman" panose="02020603050405020304" pitchFamily="18" charset="0"/>
              </a:rPr>
              <a:t>B.1.1</a:t>
            </a:r>
          </a:p>
          <a:p>
            <a:r>
              <a:rPr lang="en-US" b="1" dirty="0">
                <a:solidFill>
                  <a:srgbClr val="FF0000"/>
                </a:solidFill>
                <a:latin typeface="Times New Roman" panose="02020603050405020304" pitchFamily="18" charset="0"/>
                <a:cs typeface="Times New Roman" panose="02020603050405020304" pitchFamily="18" charset="0"/>
              </a:rPr>
              <a:t>Q.B.1.1.7</a:t>
            </a:r>
          </a:p>
        </p:txBody>
      </p:sp>
      <p:sp>
        <p:nvSpPr>
          <p:cNvPr id="10" name="TextBox 9">
            <a:extLst>
              <a:ext uri="{FF2B5EF4-FFF2-40B4-BE49-F238E27FC236}">
                <a16:creationId xmlns:a16="http://schemas.microsoft.com/office/drawing/2014/main" id="{34C584CA-C276-1A03-EB4F-C673AD2830DF}"/>
              </a:ext>
            </a:extLst>
          </p:cNvPr>
          <p:cNvSpPr txBox="1"/>
          <p:nvPr/>
        </p:nvSpPr>
        <p:spPr>
          <a:xfrm>
            <a:off x="11666484" y="6469095"/>
            <a:ext cx="468604" cy="369332"/>
          </a:xfrm>
          <a:prstGeom prst="rect">
            <a:avLst/>
          </a:prstGeom>
          <a:noFill/>
        </p:spPr>
        <p:txBody>
          <a:bodyPr wrap="square" rtlCol="0">
            <a:spAutoFit/>
          </a:bodyPr>
          <a:lstStyle/>
          <a:p>
            <a:r>
              <a:rPr lang="en-US" dirty="0"/>
              <a:t>10</a:t>
            </a:r>
          </a:p>
        </p:txBody>
      </p:sp>
    </p:spTree>
    <p:extLst>
      <p:ext uri="{BB962C8B-B14F-4D97-AF65-F5344CB8AC3E}">
        <p14:creationId xmlns:p14="http://schemas.microsoft.com/office/powerpoint/2010/main" val="1591345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FE35F-E425-A305-A7C5-04751C65BBC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EEAE94-9228-2EE2-2EDA-AA5E4E5E4A6B}"/>
              </a:ext>
            </a:extLst>
          </p:cNvPr>
          <p:cNvSpPr>
            <a:spLocks noGrp="1"/>
          </p:cNvSpPr>
          <p:nvPr>
            <p:ph type="title"/>
          </p:nvPr>
        </p:nvSpPr>
        <p:spPr>
          <a:xfrm>
            <a:off x="342527" y="119232"/>
            <a:ext cx="1933749" cy="731520"/>
          </a:xfrm>
        </p:spPr>
        <p:txBody>
          <a:bodyPr>
            <a:normAutofit/>
          </a:bodyPr>
          <a:lstStyle/>
          <a:p>
            <a:r>
              <a:rPr lang="en-US" sz="3200" b="1" dirty="0">
                <a:latin typeface="+mn-lt"/>
                <a:cs typeface="Times New Roman" panose="02020603050405020304" pitchFamily="18" charset="0"/>
              </a:rPr>
              <a:t>Results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4C2F71E2-9280-FD5A-2370-8499B80CB15A}"/>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C09B66B7-4EB2-7659-D8AC-58FC7F1197A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00995907-AA40-19A9-7277-2A5A28D074EC}"/>
              </a:ext>
            </a:extLst>
          </p:cNvPr>
          <p:cNvSpPr txBox="1"/>
          <p:nvPr/>
        </p:nvSpPr>
        <p:spPr>
          <a:xfrm>
            <a:off x="4726122" y="760307"/>
            <a:ext cx="2739756"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United States</a:t>
            </a:r>
          </a:p>
        </p:txBody>
      </p:sp>
      <p:pic>
        <p:nvPicPr>
          <p:cNvPr id="2" name="Picture 1">
            <a:extLst>
              <a:ext uri="{FF2B5EF4-FFF2-40B4-BE49-F238E27FC236}">
                <a16:creationId xmlns:a16="http://schemas.microsoft.com/office/drawing/2014/main" id="{A5007AC4-2CB2-5627-3297-ED1970587947}"/>
              </a:ext>
            </a:extLst>
          </p:cNvPr>
          <p:cNvPicPr>
            <a:picLocks noChangeAspect="1"/>
          </p:cNvPicPr>
          <p:nvPr/>
        </p:nvPicPr>
        <p:blipFill>
          <a:blip r:embed="rId2"/>
          <a:stretch>
            <a:fillRect/>
          </a:stretch>
        </p:blipFill>
        <p:spPr>
          <a:xfrm>
            <a:off x="103887" y="1129639"/>
            <a:ext cx="11984226" cy="5387194"/>
          </a:xfrm>
          <a:prstGeom prst="rect">
            <a:avLst/>
          </a:prstGeom>
        </p:spPr>
      </p:pic>
      <p:sp>
        <p:nvSpPr>
          <p:cNvPr id="3" name="Rectangle 2">
            <a:extLst>
              <a:ext uri="{FF2B5EF4-FFF2-40B4-BE49-F238E27FC236}">
                <a16:creationId xmlns:a16="http://schemas.microsoft.com/office/drawing/2014/main" id="{E2DC14ED-B5FB-6A54-8C73-001DB7BA95FB}"/>
              </a:ext>
            </a:extLst>
          </p:cNvPr>
          <p:cNvSpPr/>
          <p:nvPr/>
        </p:nvSpPr>
        <p:spPr>
          <a:xfrm>
            <a:off x="515038" y="1498971"/>
            <a:ext cx="11356074" cy="120218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DA52508-9A86-4BCC-48A6-5076B33EBE4C}"/>
              </a:ext>
            </a:extLst>
          </p:cNvPr>
          <p:cNvSpPr txBox="1"/>
          <p:nvPr/>
        </p:nvSpPr>
        <p:spPr>
          <a:xfrm>
            <a:off x="10114395" y="2980046"/>
            <a:ext cx="1429407" cy="646331"/>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B.1</a:t>
            </a:r>
          </a:p>
          <a:p>
            <a:r>
              <a:rPr lang="en-US" b="1" dirty="0">
                <a:solidFill>
                  <a:srgbClr val="FF0000"/>
                </a:solidFill>
                <a:latin typeface="Times New Roman" panose="02020603050405020304" pitchFamily="18" charset="0"/>
                <a:cs typeface="Times New Roman" panose="02020603050405020304" pitchFamily="18" charset="0"/>
              </a:rPr>
              <a:t>B.1.1</a:t>
            </a:r>
          </a:p>
        </p:txBody>
      </p:sp>
      <p:sp>
        <p:nvSpPr>
          <p:cNvPr id="10" name="TextBox 9">
            <a:extLst>
              <a:ext uri="{FF2B5EF4-FFF2-40B4-BE49-F238E27FC236}">
                <a16:creationId xmlns:a16="http://schemas.microsoft.com/office/drawing/2014/main" id="{63D0F782-2D75-5FC3-7441-AC48ED0109A1}"/>
              </a:ext>
            </a:extLst>
          </p:cNvPr>
          <p:cNvSpPr txBox="1"/>
          <p:nvPr/>
        </p:nvSpPr>
        <p:spPr>
          <a:xfrm>
            <a:off x="11666484" y="6469095"/>
            <a:ext cx="468604" cy="369332"/>
          </a:xfrm>
          <a:prstGeom prst="rect">
            <a:avLst/>
          </a:prstGeom>
          <a:noFill/>
        </p:spPr>
        <p:txBody>
          <a:bodyPr wrap="square" rtlCol="0">
            <a:spAutoFit/>
          </a:bodyPr>
          <a:lstStyle/>
          <a:p>
            <a:r>
              <a:rPr lang="en-US" dirty="0"/>
              <a:t>11</a:t>
            </a:r>
          </a:p>
        </p:txBody>
      </p:sp>
    </p:spTree>
    <p:extLst>
      <p:ext uri="{BB962C8B-B14F-4D97-AF65-F5344CB8AC3E}">
        <p14:creationId xmlns:p14="http://schemas.microsoft.com/office/powerpoint/2010/main" val="1961061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AD0AA0-41AD-79B4-8E3A-830EA1E73BA4}"/>
              </a:ext>
            </a:extLst>
          </p:cNvPr>
          <p:cNvSpPr>
            <a:spLocks noGrp="1"/>
          </p:cNvSpPr>
          <p:nvPr>
            <p:ph type="title"/>
          </p:nvPr>
        </p:nvSpPr>
        <p:spPr>
          <a:xfrm>
            <a:off x="342527" y="119232"/>
            <a:ext cx="3247542" cy="731520"/>
          </a:xfrm>
        </p:spPr>
        <p:txBody>
          <a:bodyPr>
            <a:normAutofit/>
          </a:bodyPr>
          <a:lstStyle/>
          <a:p>
            <a:r>
              <a:rPr lang="en-US" sz="3200" b="1" dirty="0">
                <a:latin typeface="+mn-lt"/>
                <a:cs typeface="Times New Roman" panose="02020603050405020304" pitchFamily="18" charset="0"/>
              </a:rPr>
              <a:t>Next Steps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B097E56D-A31B-10D4-52C7-30DB22FEB5D9}"/>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28A5ABFC-7542-6B34-12A6-090373781F22}"/>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7" name="Content Placeholder 2">
            <a:extLst>
              <a:ext uri="{FF2B5EF4-FFF2-40B4-BE49-F238E27FC236}">
                <a16:creationId xmlns:a16="http://schemas.microsoft.com/office/drawing/2014/main" id="{98BCB2CD-A153-831B-E54B-513E22233184}"/>
              </a:ext>
            </a:extLst>
          </p:cNvPr>
          <p:cNvSpPr txBox="1">
            <a:spLocks/>
          </p:cNvSpPr>
          <p:nvPr/>
        </p:nvSpPr>
        <p:spPr>
          <a:xfrm>
            <a:off x="513215" y="1818599"/>
            <a:ext cx="11678785" cy="2427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Discussion</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A more classical statistical multiple time series prediction method was applied, focusing on the top 3 most contributing variants identified by </a:t>
            </a:r>
            <a:r>
              <a:rPr lang="en-US" sz="2000" dirty="0" err="1">
                <a:latin typeface="Times New Roman" panose="02020603050405020304" pitchFamily="18" charset="0"/>
                <a:ea typeface="DengXian" panose="02010600030101010101" pitchFamily="2" charset="-122"/>
                <a:cs typeface="Times New Roman" panose="02020603050405020304" pitchFamily="18" charset="0"/>
              </a:rPr>
              <a:t>XGBoost</a:t>
            </a:r>
            <a:r>
              <a:rPr lang="en-US" sz="2000" dirty="0">
                <a:latin typeface="Times New Roman" panose="02020603050405020304" pitchFamily="18" charset="0"/>
                <a:ea typeface="DengXian" panose="02010600030101010101" pitchFamily="2" charset="-122"/>
                <a:cs typeface="Times New Roman" panose="02020603050405020304" pitchFamily="18" charset="0"/>
              </a:rPr>
              <a:t>, to provide a clearer interpretation.</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Revisiting the classification procedure may reveal interesting insights about specific variants, including their unique characteristics and behaviors. Analyzing these variants could provide valuable information regarding their spread patterns, mutation rates, and influence on infection dynamics.</a:t>
            </a:r>
          </a:p>
        </p:txBody>
      </p:sp>
      <p:sp>
        <p:nvSpPr>
          <p:cNvPr id="8" name="TextBox 7">
            <a:extLst>
              <a:ext uri="{FF2B5EF4-FFF2-40B4-BE49-F238E27FC236}">
                <a16:creationId xmlns:a16="http://schemas.microsoft.com/office/drawing/2014/main" id="{CC01EB36-2805-D8A6-D2E6-233C90844D79}"/>
              </a:ext>
            </a:extLst>
          </p:cNvPr>
          <p:cNvSpPr txBox="1"/>
          <p:nvPr/>
        </p:nvSpPr>
        <p:spPr>
          <a:xfrm>
            <a:off x="11666484" y="6469095"/>
            <a:ext cx="468604" cy="369332"/>
          </a:xfrm>
          <a:prstGeom prst="rect">
            <a:avLst/>
          </a:prstGeom>
          <a:noFill/>
        </p:spPr>
        <p:txBody>
          <a:bodyPr wrap="square" rtlCol="0">
            <a:spAutoFit/>
          </a:bodyPr>
          <a:lstStyle/>
          <a:p>
            <a:r>
              <a:rPr lang="en-US" dirty="0"/>
              <a:t>12</a:t>
            </a:r>
          </a:p>
        </p:txBody>
      </p:sp>
    </p:spTree>
    <p:extLst>
      <p:ext uri="{BB962C8B-B14F-4D97-AF65-F5344CB8AC3E}">
        <p14:creationId xmlns:p14="http://schemas.microsoft.com/office/powerpoint/2010/main" val="3968976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999</TotalTime>
  <Words>711</Words>
  <Application>Microsoft Macintosh PowerPoint</Application>
  <PresentationFormat>Widescreen</PresentationFormat>
  <Paragraphs>86</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Cambria Math</vt:lpstr>
      <vt:lpstr>Times New Roman</vt:lpstr>
      <vt:lpstr>Wingdings</vt:lpstr>
      <vt:lpstr>Office Theme</vt:lpstr>
      <vt:lpstr>PowerPoint Presentation</vt:lpstr>
      <vt:lpstr>PowerPoint Presentation</vt:lpstr>
      <vt:lpstr>Re-define the initial stage</vt:lpstr>
      <vt:lpstr>Smooth and calculate growth rate</vt:lpstr>
      <vt:lpstr>PowerPoint Presentation</vt:lpstr>
      <vt:lpstr>PowerPoint Presentation</vt:lpstr>
      <vt:lpstr>Brief Intro to FDA modeling</vt:lpstr>
      <vt:lpstr>Results</vt:lpstr>
      <vt:lpstr>Results</vt:lpstr>
      <vt:lpstr>Results</vt:lpstr>
      <vt:lpstr>Results</vt:lpstr>
      <vt:lpstr>Discussion</vt:lpstr>
      <vt:lpstr>PowerPoint Presentation</vt:lpstr>
      <vt:lpstr>PowerPoint Presentation</vt:lpstr>
      <vt:lpstr>Results</vt:lpstr>
      <vt:lpstr>Results</vt:lpstr>
      <vt:lpstr>Results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Franky</dc:creator>
  <cp:lastModifiedBy>Zhang, Franky</cp:lastModifiedBy>
  <cp:revision>8</cp:revision>
  <dcterms:created xsi:type="dcterms:W3CDTF">2024-10-16T12:27:48Z</dcterms:created>
  <dcterms:modified xsi:type="dcterms:W3CDTF">2024-11-16T20:02:36Z</dcterms:modified>
</cp:coreProperties>
</file>