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70" r:id="rId14"/>
    <p:sldId id="271" r:id="rId15"/>
    <p:sldId id="266"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94737"/>
  </p:normalViewPr>
  <p:slideViewPr>
    <p:cSldViewPr snapToGrid="0">
      <p:cViewPr varScale="1">
        <p:scale>
          <a:sx n="129" d="100"/>
          <a:sy n="129" d="100"/>
        </p:scale>
        <p:origin x="1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93D7C6-92E1-B74D-BAD9-DB788CCBFF38}" type="datetimeFigureOut">
              <a:rPr lang="en-US" smtClean="0"/>
              <a:t>9/18/24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2368B5-F4ED-C147-BEAC-80D78991565F}" type="slidenum">
              <a:rPr lang="en-US" smtClean="0"/>
              <a:t>‹#›</a:t>
            </a:fld>
            <a:endParaRPr lang="en-US"/>
          </a:p>
        </p:txBody>
      </p:sp>
    </p:spTree>
    <p:extLst>
      <p:ext uri="{BB962C8B-B14F-4D97-AF65-F5344CB8AC3E}">
        <p14:creationId xmlns:p14="http://schemas.microsoft.com/office/powerpoint/2010/main" val="1327045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2368B5-F4ED-C147-BEAC-80D78991565F}" type="slidenum">
              <a:rPr lang="en-US" smtClean="0"/>
              <a:t>2</a:t>
            </a:fld>
            <a:endParaRPr lang="en-US"/>
          </a:p>
        </p:txBody>
      </p:sp>
    </p:spTree>
    <p:extLst>
      <p:ext uri="{BB962C8B-B14F-4D97-AF65-F5344CB8AC3E}">
        <p14:creationId xmlns:p14="http://schemas.microsoft.com/office/powerpoint/2010/main" val="615579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if the colors are consistent. One additional fig, use the same classification level group, same color scale, easy to compare. </a:t>
            </a:r>
          </a:p>
        </p:txBody>
      </p:sp>
      <p:sp>
        <p:nvSpPr>
          <p:cNvPr id="4" name="Slide Number Placeholder 3"/>
          <p:cNvSpPr>
            <a:spLocks noGrp="1"/>
          </p:cNvSpPr>
          <p:nvPr>
            <p:ph type="sldNum" sz="quarter" idx="5"/>
          </p:nvPr>
        </p:nvSpPr>
        <p:spPr/>
        <p:txBody>
          <a:bodyPr/>
          <a:lstStyle/>
          <a:p>
            <a:fld id="{322368B5-F4ED-C147-BEAC-80D78991565F}" type="slidenum">
              <a:rPr lang="en-US" smtClean="0"/>
              <a:t>5</a:t>
            </a:fld>
            <a:endParaRPr lang="en-US"/>
          </a:p>
        </p:txBody>
      </p:sp>
    </p:spTree>
    <p:extLst>
      <p:ext uri="{BB962C8B-B14F-4D97-AF65-F5344CB8AC3E}">
        <p14:creationId xmlns:p14="http://schemas.microsoft.com/office/powerpoint/2010/main" val="4218648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Absolute to frequencies</a:t>
            </a:r>
          </a:p>
        </p:txBody>
      </p:sp>
      <p:sp>
        <p:nvSpPr>
          <p:cNvPr id="4" name="Slide Number Placeholder 3"/>
          <p:cNvSpPr>
            <a:spLocks noGrp="1"/>
          </p:cNvSpPr>
          <p:nvPr>
            <p:ph type="sldNum" sz="quarter" idx="5"/>
          </p:nvPr>
        </p:nvSpPr>
        <p:spPr/>
        <p:txBody>
          <a:bodyPr/>
          <a:lstStyle/>
          <a:p>
            <a:fld id="{322368B5-F4ED-C147-BEAC-80D78991565F}" type="slidenum">
              <a:rPr lang="en-US" smtClean="0"/>
              <a:t>6</a:t>
            </a:fld>
            <a:endParaRPr lang="en-US"/>
          </a:p>
        </p:txBody>
      </p:sp>
    </p:spTree>
    <p:extLst>
      <p:ext uri="{BB962C8B-B14F-4D97-AF65-F5344CB8AC3E}">
        <p14:creationId xmlns:p14="http://schemas.microsoft.com/office/powerpoint/2010/main" val="680312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2368B5-F4ED-C147-BEAC-80D78991565F}" type="slidenum">
              <a:rPr lang="en-US" smtClean="0"/>
              <a:t>7</a:t>
            </a:fld>
            <a:endParaRPr lang="en-US"/>
          </a:p>
        </p:txBody>
      </p:sp>
    </p:spTree>
    <p:extLst>
      <p:ext uri="{BB962C8B-B14F-4D97-AF65-F5344CB8AC3E}">
        <p14:creationId xmlns:p14="http://schemas.microsoft.com/office/powerpoint/2010/main" val="23305354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2368B5-F4ED-C147-BEAC-80D78991565F}" type="slidenum">
              <a:rPr lang="en-US" smtClean="0"/>
              <a:t>9</a:t>
            </a:fld>
            <a:endParaRPr lang="en-US"/>
          </a:p>
        </p:txBody>
      </p:sp>
    </p:spTree>
    <p:extLst>
      <p:ext uri="{BB962C8B-B14F-4D97-AF65-F5344CB8AC3E}">
        <p14:creationId xmlns:p14="http://schemas.microsoft.com/office/powerpoint/2010/main" val="1950210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countries </a:t>
            </a:r>
            <a:r>
              <a:rPr lang="en-US" dirty="0" err="1"/>
              <a:t>gisaid</a:t>
            </a:r>
            <a:r>
              <a:rPr lang="en-US" dirty="0"/>
              <a:t> data; </a:t>
            </a:r>
          </a:p>
          <a:p>
            <a:r>
              <a:rPr lang="en-US" dirty="0"/>
              <a:t>Add utilities of this finding, interpretation (example). </a:t>
            </a:r>
          </a:p>
          <a:p>
            <a:r>
              <a:rPr lang="en-US" dirty="0"/>
              <a:t>Summaries the challenges and gaps, apply the method to all countries. (variants name, resolutions)</a:t>
            </a:r>
          </a:p>
        </p:txBody>
      </p:sp>
      <p:sp>
        <p:nvSpPr>
          <p:cNvPr id="4" name="Slide Number Placeholder 3"/>
          <p:cNvSpPr>
            <a:spLocks noGrp="1"/>
          </p:cNvSpPr>
          <p:nvPr>
            <p:ph type="sldNum" sz="quarter" idx="5"/>
          </p:nvPr>
        </p:nvSpPr>
        <p:spPr/>
        <p:txBody>
          <a:bodyPr/>
          <a:lstStyle/>
          <a:p>
            <a:fld id="{322368B5-F4ED-C147-BEAC-80D78991565F}" type="slidenum">
              <a:rPr lang="en-US" smtClean="0"/>
              <a:t>16</a:t>
            </a:fld>
            <a:endParaRPr lang="en-US"/>
          </a:p>
        </p:txBody>
      </p:sp>
    </p:spTree>
    <p:extLst>
      <p:ext uri="{BB962C8B-B14F-4D97-AF65-F5344CB8AC3E}">
        <p14:creationId xmlns:p14="http://schemas.microsoft.com/office/powerpoint/2010/main" val="2340651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8B3CE-C7F1-2106-62B0-098868F9EB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E25F96-A65C-14DC-2ABE-22986DF51D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FA863A-FA90-BBD4-F240-35E7CCBDFD08}"/>
              </a:ext>
            </a:extLst>
          </p:cNvPr>
          <p:cNvSpPr>
            <a:spLocks noGrp="1"/>
          </p:cNvSpPr>
          <p:nvPr>
            <p:ph type="dt" sz="half" idx="10"/>
          </p:nvPr>
        </p:nvSpPr>
        <p:spPr/>
        <p:txBody>
          <a:bodyPr/>
          <a:lstStyle/>
          <a:p>
            <a:fld id="{3611AAF3-42A6-FC47-9730-9260FFC6C88F}" type="datetimeFigureOut">
              <a:rPr lang="en-US" smtClean="0"/>
              <a:t>9/18/24</a:t>
            </a:fld>
            <a:endParaRPr lang="en-US"/>
          </a:p>
        </p:txBody>
      </p:sp>
      <p:sp>
        <p:nvSpPr>
          <p:cNvPr id="5" name="Footer Placeholder 4">
            <a:extLst>
              <a:ext uri="{FF2B5EF4-FFF2-40B4-BE49-F238E27FC236}">
                <a16:creationId xmlns:a16="http://schemas.microsoft.com/office/drawing/2014/main" id="{E347D9B5-711F-3150-097C-C8D3A5461B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BB8273-4B62-0E4D-F23B-DD99228A01E5}"/>
              </a:ext>
            </a:extLst>
          </p:cNvPr>
          <p:cNvSpPr>
            <a:spLocks noGrp="1"/>
          </p:cNvSpPr>
          <p:nvPr>
            <p:ph type="sldNum" sz="quarter" idx="12"/>
          </p:nvPr>
        </p:nvSpPr>
        <p:spPr/>
        <p:txBody>
          <a:bodyPr/>
          <a:lstStyle/>
          <a:p>
            <a:fld id="{4B20B9EC-97E0-7840-A687-F29314997EC7}" type="slidenum">
              <a:rPr lang="en-US" smtClean="0"/>
              <a:t>‹#›</a:t>
            </a:fld>
            <a:endParaRPr lang="en-US"/>
          </a:p>
        </p:txBody>
      </p:sp>
    </p:spTree>
    <p:extLst>
      <p:ext uri="{BB962C8B-B14F-4D97-AF65-F5344CB8AC3E}">
        <p14:creationId xmlns:p14="http://schemas.microsoft.com/office/powerpoint/2010/main" val="954575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2605-EE90-7F5F-AACA-7757A0DF29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DE279A-54F1-569A-DF2D-4A0E5100DA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899302-BB99-4DAE-BBF9-098B5831EFE5}"/>
              </a:ext>
            </a:extLst>
          </p:cNvPr>
          <p:cNvSpPr>
            <a:spLocks noGrp="1"/>
          </p:cNvSpPr>
          <p:nvPr>
            <p:ph type="dt" sz="half" idx="10"/>
          </p:nvPr>
        </p:nvSpPr>
        <p:spPr/>
        <p:txBody>
          <a:bodyPr/>
          <a:lstStyle/>
          <a:p>
            <a:fld id="{3611AAF3-42A6-FC47-9730-9260FFC6C88F}" type="datetimeFigureOut">
              <a:rPr lang="en-US" smtClean="0"/>
              <a:t>9/18/24</a:t>
            </a:fld>
            <a:endParaRPr lang="en-US"/>
          </a:p>
        </p:txBody>
      </p:sp>
      <p:sp>
        <p:nvSpPr>
          <p:cNvPr id="5" name="Footer Placeholder 4">
            <a:extLst>
              <a:ext uri="{FF2B5EF4-FFF2-40B4-BE49-F238E27FC236}">
                <a16:creationId xmlns:a16="http://schemas.microsoft.com/office/drawing/2014/main" id="{D8EF74A7-DAE2-013C-3448-47B3E3CECB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83C3A1-00F3-B51F-7AD3-0B5F9B9D86D0}"/>
              </a:ext>
            </a:extLst>
          </p:cNvPr>
          <p:cNvSpPr>
            <a:spLocks noGrp="1"/>
          </p:cNvSpPr>
          <p:nvPr>
            <p:ph type="sldNum" sz="quarter" idx="12"/>
          </p:nvPr>
        </p:nvSpPr>
        <p:spPr/>
        <p:txBody>
          <a:bodyPr/>
          <a:lstStyle/>
          <a:p>
            <a:fld id="{4B20B9EC-97E0-7840-A687-F29314997EC7}" type="slidenum">
              <a:rPr lang="en-US" smtClean="0"/>
              <a:t>‹#›</a:t>
            </a:fld>
            <a:endParaRPr lang="en-US"/>
          </a:p>
        </p:txBody>
      </p:sp>
    </p:spTree>
    <p:extLst>
      <p:ext uri="{BB962C8B-B14F-4D97-AF65-F5344CB8AC3E}">
        <p14:creationId xmlns:p14="http://schemas.microsoft.com/office/powerpoint/2010/main" val="1137416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FD2B2-F4B4-85F6-624F-9B7F7C9100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D6093D-4C54-88AB-EDA9-54F6D2EE4D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0EDD14-9153-42AC-D039-E625E6363B80}"/>
              </a:ext>
            </a:extLst>
          </p:cNvPr>
          <p:cNvSpPr>
            <a:spLocks noGrp="1"/>
          </p:cNvSpPr>
          <p:nvPr>
            <p:ph type="dt" sz="half" idx="10"/>
          </p:nvPr>
        </p:nvSpPr>
        <p:spPr/>
        <p:txBody>
          <a:bodyPr/>
          <a:lstStyle/>
          <a:p>
            <a:fld id="{3611AAF3-42A6-FC47-9730-9260FFC6C88F}" type="datetimeFigureOut">
              <a:rPr lang="en-US" smtClean="0"/>
              <a:t>9/18/24</a:t>
            </a:fld>
            <a:endParaRPr lang="en-US"/>
          </a:p>
        </p:txBody>
      </p:sp>
      <p:sp>
        <p:nvSpPr>
          <p:cNvPr id="5" name="Footer Placeholder 4">
            <a:extLst>
              <a:ext uri="{FF2B5EF4-FFF2-40B4-BE49-F238E27FC236}">
                <a16:creationId xmlns:a16="http://schemas.microsoft.com/office/drawing/2014/main" id="{BA54C054-89DE-3A8C-1303-0922AD16B7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0FCADB-3FFD-6338-1DDB-79404E0D7029}"/>
              </a:ext>
            </a:extLst>
          </p:cNvPr>
          <p:cNvSpPr>
            <a:spLocks noGrp="1"/>
          </p:cNvSpPr>
          <p:nvPr>
            <p:ph type="sldNum" sz="quarter" idx="12"/>
          </p:nvPr>
        </p:nvSpPr>
        <p:spPr/>
        <p:txBody>
          <a:bodyPr/>
          <a:lstStyle/>
          <a:p>
            <a:fld id="{4B20B9EC-97E0-7840-A687-F29314997EC7}" type="slidenum">
              <a:rPr lang="en-US" smtClean="0"/>
              <a:t>‹#›</a:t>
            </a:fld>
            <a:endParaRPr lang="en-US"/>
          </a:p>
        </p:txBody>
      </p:sp>
    </p:spTree>
    <p:extLst>
      <p:ext uri="{BB962C8B-B14F-4D97-AF65-F5344CB8AC3E}">
        <p14:creationId xmlns:p14="http://schemas.microsoft.com/office/powerpoint/2010/main" val="1053759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A0483-0698-3E10-3C72-DC44D911F5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0F10DB-43B0-DD3F-039C-D59267096E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A5961A-AFF0-AC24-4AD6-4C9D7AE151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084F2D3-1D91-9B88-D1DC-24588FE131E9}"/>
              </a:ext>
            </a:extLst>
          </p:cNvPr>
          <p:cNvSpPr>
            <a:spLocks noGrp="1"/>
          </p:cNvSpPr>
          <p:nvPr>
            <p:ph type="dt" sz="half" idx="10"/>
          </p:nvPr>
        </p:nvSpPr>
        <p:spPr/>
        <p:txBody>
          <a:bodyPr/>
          <a:lstStyle/>
          <a:p>
            <a:fld id="{3611AAF3-42A6-FC47-9730-9260FFC6C88F}" type="datetimeFigureOut">
              <a:rPr lang="en-US" smtClean="0"/>
              <a:t>9/18/24</a:t>
            </a:fld>
            <a:endParaRPr lang="en-US"/>
          </a:p>
        </p:txBody>
      </p:sp>
      <p:sp>
        <p:nvSpPr>
          <p:cNvPr id="6" name="Footer Placeholder 5">
            <a:extLst>
              <a:ext uri="{FF2B5EF4-FFF2-40B4-BE49-F238E27FC236}">
                <a16:creationId xmlns:a16="http://schemas.microsoft.com/office/drawing/2014/main" id="{BE30B64C-5073-0D5F-1E9B-060A686C0C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264F4B-735D-4517-9CA7-F80ED2A58AAB}"/>
              </a:ext>
            </a:extLst>
          </p:cNvPr>
          <p:cNvSpPr>
            <a:spLocks noGrp="1"/>
          </p:cNvSpPr>
          <p:nvPr>
            <p:ph type="sldNum" sz="quarter" idx="12"/>
          </p:nvPr>
        </p:nvSpPr>
        <p:spPr/>
        <p:txBody>
          <a:bodyPr/>
          <a:lstStyle/>
          <a:p>
            <a:fld id="{4B20B9EC-97E0-7840-A687-F29314997EC7}" type="slidenum">
              <a:rPr lang="en-US" smtClean="0"/>
              <a:t>‹#›</a:t>
            </a:fld>
            <a:endParaRPr lang="en-US"/>
          </a:p>
        </p:txBody>
      </p:sp>
    </p:spTree>
    <p:extLst>
      <p:ext uri="{BB962C8B-B14F-4D97-AF65-F5344CB8AC3E}">
        <p14:creationId xmlns:p14="http://schemas.microsoft.com/office/powerpoint/2010/main" val="938230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68DF2-2168-406B-7EDD-02AB975ACE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A7F2BA9-A658-7E46-C204-8889A8B51A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CBC474-C652-B8B1-B6B9-0844BAB9B5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DFCD74-7AC0-41EB-EBE2-0D158A8877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06D855-C630-125C-4E5E-BE266AF512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4A6F60-D8E0-8B85-BC11-A7E2C60D47CE}"/>
              </a:ext>
            </a:extLst>
          </p:cNvPr>
          <p:cNvSpPr>
            <a:spLocks noGrp="1"/>
          </p:cNvSpPr>
          <p:nvPr>
            <p:ph type="dt" sz="half" idx="10"/>
          </p:nvPr>
        </p:nvSpPr>
        <p:spPr/>
        <p:txBody>
          <a:bodyPr/>
          <a:lstStyle/>
          <a:p>
            <a:fld id="{3611AAF3-42A6-FC47-9730-9260FFC6C88F}" type="datetimeFigureOut">
              <a:rPr lang="en-US" smtClean="0"/>
              <a:t>9/18/24</a:t>
            </a:fld>
            <a:endParaRPr lang="en-US"/>
          </a:p>
        </p:txBody>
      </p:sp>
      <p:sp>
        <p:nvSpPr>
          <p:cNvPr id="8" name="Footer Placeholder 7">
            <a:extLst>
              <a:ext uri="{FF2B5EF4-FFF2-40B4-BE49-F238E27FC236}">
                <a16:creationId xmlns:a16="http://schemas.microsoft.com/office/drawing/2014/main" id="{7D214D19-FCD9-56B3-D44E-F2EBCA6599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CB4BE7-4481-9D25-BE68-D6BF30C534A5}"/>
              </a:ext>
            </a:extLst>
          </p:cNvPr>
          <p:cNvSpPr>
            <a:spLocks noGrp="1"/>
          </p:cNvSpPr>
          <p:nvPr>
            <p:ph type="sldNum" sz="quarter" idx="12"/>
          </p:nvPr>
        </p:nvSpPr>
        <p:spPr/>
        <p:txBody>
          <a:bodyPr/>
          <a:lstStyle/>
          <a:p>
            <a:fld id="{4B20B9EC-97E0-7840-A687-F29314997EC7}" type="slidenum">
              <a:rPr lang="en-US" smtClean="0"/>
              <a:t>‹#›</a:t>
            </a:fld>
            <a:endParaRPr lang="en-US"/>
          </a:p>
        </p:txBody>
      </p:sp>
    </p:spTree>
    <p:extLst>
      <p:ext uri="{BB962C8B-B14F-4D97-AF65-F5344CB8AC3E}">
        <p14:creationId xmlns:p14="http://schemas.microsoft.com/office/powerpoint/2010/main" val="3953694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024F9-4B86-9C3B-9FB8-28C5979340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85BF5B-1D37-D4A0-768B-AE3CD34AF761}"/>
              </a:ext>
            </a:extLst>
          </p:cNvPr>
          <p:cNvSpPr>
            <a:spLocks noGrp="1"/>
          </p:cNvSpPr>
          <p:nvPr>
            <p:ph type="dt" sz="half" idx="10"/>
          </p:nvPr>
        </p:nvSpPr>
        <p:spPr/>
        <p:txBody>
          <a:bodyPr/>
          <a:lstStyle/>
          <a:p>
            <a:fld id="{3611AAF3-42A6-FC47-9730-9260FFC6C88F}" type="datetimeFigureOut">
              <a:rPr lang="en-US" smtClean="0"/>
              <a:t>9/18/24</a:t>
            </a:fld>
            <a:endParaRPr lang="en-US"/>
          </a:p>
        </p:txBody>
      </p:sp>
      <p:sp>
        <p:nvSpPr>
          <p:cNvPr id="4" name="Footer Placeholder 3">
            <a:extLst>
              <a:ext uri="{FF2B5EF4-FFF2-40B4-BE49-F238E27FC236}">
                <a16:creationId xmlns:a16="http://schemas.microsoft.com/office/drawing/2014/main" id="{AEC0C2E5-A67B-7A44-5785-8490693EC8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634C9FC-9C8F-1CCA-C605-F25EF5C1A9D8}"/>
              </a:ext>
            </a:extLst>
          </p:cNvPr>
          <p:cNvSpPr>
            <a:spLocks noGrp="1"/>
          </p:cNvSpPr>
          <p:nvPr>
            <p:ph type="sldNum" sz="quarter" idx="12"/>
          </p:nvPr>
        </p:nvSpPr>
        <p:spPr/>
        <p:txBody>
          <a:bodyPr/>
          <a:lstStyle/>
          <a:p>
            <a:fld id="{4B20B9EC-97E0-7840-A687-F29314997EC7}" type="slidenum">
              <a:rPr lang="en-US" smtClean="0"/>
              <a:t>‹#›</a:t>
            </a:fld>
            <a:endParaRPr lang="en-US"/>
          </a:p>
        </p:txBody>
      </p:sp>
    </p:spTree>
    <p:extLst>
      <p:ext uri="{BB962C8B-B14F-4D97-AF65-F5344CB8AC3E}">
        <p14:creationId xmlns:p14="http://schemas.microsoft.com/office/powerpoint/2010/main" val="3130536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DA99B5-4301-82C5-A291-AB5C91516692}"/>
              </a:ext>
            </a:extLst>
          </p:cNvPr>
          <p:cNvSpPr>
            <a:spLocks noGrp="1"/>
          </p:cNvSpPr>
          <p:nvPr>
            <p:ph type="dt" sz="half" idx="10"/>
          </p:nvPr>
        </p:nvSpPr>
        <p:spPr/>
        <p:txBody>
          <a:bodyPr/>
          <a:lstStyle/>
          <a:p>
            <a:fld id="{3611AAF3-42A6-FC47-9730-9260FFC6C88F}" type="datetimeFigureOut">
              <a:rPr lang="en-US" smtClean="0"/>
              <a:t>9/18/24</a:t>
            </a:fld>
            <a:endParaRPr lang="en-US"/>
          </a:p>
        </p:txBody>
      </p:sp>
      <p:sp>
        <p:nvSpPr>
          <p:cNvPr id="3" name="Footer Placeholder 2">
            <a:extLst>
              <a:ext uri="{FF2B5EF4-FFF2-40B4-BE49-F238E27FC236}">
                <a16:creationId xmlns:a16="http://schemas.microsoft.com/office/drawing/2014/main" id="{446BC257-C29B-B37A-0F37-CE74DD1469B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1739A2-80E3-22C0-A91A-DB9A0CC6F417}"/>
              </a:ext>
            </a:extLst>
          </p:cNvPr>
          <p:cNvSpPr>
            <a:spLocks noGrp="1"/>
          </p:cNvSpPr>
          <p:nvPr>
            <p:ph type="sldNum" sz="quarter" idx="12"/>
          </p:nvPr>
        </p:nvSpPr>
        <p:spPr/>
        <p:txBody>
          <a:bodyPr/>
          <a:lstStyle/>
          <a:p>
            <a:fld id="{4B20B9EC-97E0-7840-A687-F29314997EC7}" type="slidenum">
              <a:rPr lang="en-US" smtClean="0"/>
              <a:t>‹#›</a:t>
            </a:fld>
            <a:endParaRPr lang="en-US"/>
          </a:p>
        </p:txBody>
      </p:sp>
    </p:spTree>
    <p:extLst>
      <p:ext uri="{BB962C8B-B14F-4D97-AF65-F5344CB8AC3E}">
        <p14:creationId xmlns:p14="http://schemas.microsoft.com/office/powerpoint/2010/main" val="171902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6B55-1561-4AB6-D7D5-D364151E95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3B334B-6DF5-3459-54DC-B629A533E2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F3DDC9-B1E2-4597-C504-B49B792677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8EF4D0-1B07-07B8-4BEC-86F157F8A514}"/>
              </a:ext>
            </a:extLst>
          </p:cNvPr>
          <p:cNvSpPr>
            <a:spLocks noGrp="1"/>
          </p:cNvSpPr>
          <p:nvPr>
            <p:ph type="dt" sz="half" idx="10"/>
          </p:nvPr>
        </p:nvSpPr>
        <p:spPr/>
        <p:txBody>
          <a:bodyPr/>
          <a:lstStyle/>
          <a:p>
            <a:fld id="{3611AAF3-42A6-FC47-9730-9260FFC6C88F}" type="datetimeFigureOut">
              <a:rPr lang="en-US" smtClean="0"/>
              <a:t>9/18/24</a:t>
            </a:fld>
            <a:endParaRPr lang="en-US"/>
          </a:p>
        </p:txBody>
      </p:sp>
      <p:sp>
        <p:nvSpPr>
          <p:cNvPr id="6" name="Footer Placeholder 5">
            <a:extLst>
              <a:ext uri="{FF2B5EF4-FFF2-40B4-BE49-F238E27FC236}">
                <a16:creationId xmlns:a16="http://schemas.microsoft.com/office/drawing/2014/main" id="{3CA7C46E-0FF1-F86A-7C07-0830CE72FB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DD999B-A3AB-D7B4-4812-7444075B7336}"/>
              </a:ext>
            </a:extLst>
          </p:cNvPr>
          <p:cNvSpPr>
            <a:spLocks noGrp="1"/>
          </p:cNvSpPr>
          <p:nvPr>
            <p:ph type="sldNum" sz="quarter" idx="12"/>
          </p:nvPr>
        </p:nvSpPr>
        <p:spPr/>
        <p:txBody>
          <a:bodyPr/>
          <a:lstStyle/>
          <a:p>
            <a:fld id="{4B20B9EC-97E0-7840-A687-F29314997EC7}" type="slidenum">
              <a:rPr lang="en-US" smtClean="0"/>
              <a:t>‹#›</a:t>
            </a:fld>
            <a:endParaRPr lang="en-US"/>
          </a:p>
        </p:txBody>
      </p:sp>
    </p:spTree>
    <p:extLst>
      <p:ext uri="{BB962C8B-B14F-4D97-AF65-F5344CB8AC3E}">
        <p14:creationId xmlns:p14="http://schemas.microsoft.com/office/powerpoint/2010/main" val="1254586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DEDEC-D2C6-9287-46D7-CE5F7622FB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476BC71-C330-5129-79F7-DCD13E30AE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3432F02-A4FA-8709-B75E-E35CAC2FB6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6C8D26-CBDE-0BAE-E8BE-C4B597EC2742}"/>
              </a:ext>
            </a:extLst>
          </p:cNvPr>
          <p:cNvSpPr>
            <a:spLocks noGrp="1"/>
          </p:cNvSpPr>
          <p:nvPr>
            <p:ph type="dt" sz="half" idx="10"/>
          </p:nvPr>
        </p:nvSpPr>
        <p:spPr/>
        <p:txBody>
          <a:bodyPr/>
          <a:lstStyle/>
          <a:p>
            <a:fld id="{3611AAF3-42A6-FC47-9730-9260FFC6C88F}" type="datetimeFigureOut">
              <a:rPr lang="en-US" smtClean="0"/>
              <a:t>9/18/24</a:t>
            </a:fld>
            <a:endParaRPr lang="en-US"/>
          </a:p>
        </p:txBody>
      </p:sp>
      <p:sp>
        <p:nvSpPr>
          <p:cNvPr id="6" name="Footer Placeholder 5">
            <a:extLst>
              <a:ext uri="{FF2B5EF4-FFF2-40B4-BE49-F238E27FC236}">
                <a16:creationId xmlns:a16="http://schemas.microsoft.com/office/drawing/2014/main" id="{B98CFAAA-80D4-D912-4210-584E986912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F4CD4D-3B8D-1DA7-0454-3A7D70E2C7BF}"/>
              </a:ext>
            </a:extLst>
          </p:cNvPr>
          <p:cNvSpPr>
            <a:spLocks noGrp="1"/>
          </p:cNvSpPr>
          <p:nvPr>
            <p:ph type="sldNum" sz="quarter" idx="12"/>
          </p:nvPr>
        </p:nvSpPr>
        <p:spPr/>
        <p:txBody>
          <a:bodyPr/>
          <a:lstStyle/>
          <a:p>
            <a:fld id="{4B20B9EC-97E0-7840-A687-F29314997EC7}" type="slidenum">
              <a:rPr lang="en-US" smtClean="0"/>
              <a:t>‹#›</a:t>
            </a:fld>
            <a:endParaRPr lang="en-US"/>
          </a:p>
        </p:txBody>
      </p:sp>
    </p:spTree>
    <p:extLst>
      <p:ext uri="{BB962C8B-B14F-4D97-AF65-F5344CB8AC3E}">
        <p14:creationId xmlns:p14="http://schemas.microsoft.com/office/powerpoint/2010/main" val="2089579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285B7-C518-CCC6-F6A7-AAE81497F5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63388D-E192-E74D-D2DF-BBC6ABF454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0BE9BB-1F40-740F-E8F3-11C8B30156B1}"/>
              </a:ext>
            </a:extLst>
          </p:cNvPr>
          <p:cNvSpPr>
            <a:spLocks noGrp="1"/>
          </p:cNvSpPr>
          <p:nvPr>
            <p:ph type="dt" sz="half" idx="10"/>
          </p:nvPr>
        </p:nvSpPr>
        <p:spPr/>
        <p:txBody>
          <a:bodyPr/>
          <a:lstStyle/>
          <a:p>
            <a:fld id="{3611AAF3-42A6-FC47-9730-9260FFC6C88F}" type="datetimeFigureOut">
              <a:rPr lang="en-US" smtClean="0"/>
              <a:t>9/18/24</a:t>
            </a:fld>
            <a:endParaRPr lang="en-US"/>
          </a:p>
        </p:txBody>
      </p:sp>
      <p:sp>
        <p:nvSpPr>
          <p:cNvPr id="5" name="Footer Placeholder 4">
            <a:extLst>
              <a:ext uri="{FF2B5EF4-FFF2-40B4-BE49-F238E27FC236}">
                <a16:creationId xmlns:a16="http://schemas.microsoft.com/office/drawing/2014/main" id="{074AC122-CD4E-15E1-CFB2-5227F7CAE1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F1F394-FF0B-E8A9-9E5E-05ED4B586AE4}"/>
              </a:ext>
            </a:extLst>
          </p:cNvPr>
          <p:cNvSpPr>
            <a:spLocks noGrp="1"/>
          </p:cNvSpPr>
          <p:nvPr>
            <p:ph type="sldNum" sz="quarter" idx="12"/>
          </p:nvPr>
        </p:nvSpPr>
        <p:spPr/>
        <p:txBody>
          <a:bodyPr/>
          <a:lstStyle/>
          <a:p>
            <a:fld id="{4B20B9EC-97E0-7840-A687-F29314997EC7}" type="slidenum">
              <a:rPr lang="en-US" smtClean="0"/>
              <a:t>‹#›</a:t>
            </a:fld>
            <a:endParaRPr lang="en-US"/>
          </a:p>
        </p:txBody>
      </p:sp>
    </p:spTree>
    <p:extLst>
      <p:ext uri="{BB962C8B-B14F-4D97-AF65-F5344CB8AC3E}">
        <p14:creationId xmlns:p14="http://schemas.microsoft.com/office/powerpoint/2010/main" val="3328777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F4D09A-E1B6-036F-00CE-F759D8A00E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50398B-3E7D-D3D8-26D7-A03BA32982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BFD45A-8553-04A9-81CF-1763124A1105}"/>
              </a:ext>
            </a:extLst>
          </p:cNvPr>
          <p:cNvSpPr>
            <a:spLocks noGrp="1"/>
          </p:cNvSpPr>
          <p:nvPr>
            <p:ph type="dt" sz="half" idx="10"/>
          </p:nvPr>
        </p:nvSpPr>
        <p:spPr/>
        <p:txBody>
          <a:bodyPr/>
          <a:lstStyle/>
          <a:p>
            <a:fld id="{3611AAF3-42A6-FC47-9730-9260FFC6C88F}" type="datetimeFigureOut">
              <a:rPr lang="en-US" smtClean="0"/>
              <a:t>9/18/24</a:t>
            </a:fld>
            <a:endParaRPr lang="en-US"/>
          </a:p>
        </p:txBody>
      </p:sp>
      <p:sp>
        <p:nvSpPr>
          <p:cNvPr id="5" name="Footer Placeholder 4">
            <a:extLst>
              <a:ext uri="{FF2B5EF4-FFF2-40B4-BE49-F238E27FC236}">
                <a16:creationId xmlns:a16="http://schemas.microsoft.com/office/drawing/2014/main" id="{6841D414-901A-D11C-06BE-471E6F4458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33A090-81D9-B0A7-780F-47CFBEA11D92}"/>
              </a:ext>
            </a:extLst>
          </p:cNvPr>
          <p:cNvSpPr>
            <a:spLocks noGrp="1"/>
          </p:cNvSpPr>
          <p:nvPr>
            <p:ph type="sldNum" sz="quarter" idx="12"/>
          </p:nvPr>
        </p:nvSpPr>
        <p:spPr/>
        <p:txBody>
          <a:bodyPr/>
          <a:lstStyle/>
          <a:p>
            <a:fld id="{4B20B9EC-97E0-7840-A687-F29314997EC7}" type="slidenum">
              <a:rPr lang="en-US" smtClean="0"/>
              <a:t>‹#›</a:t>
            </a:fld>
            <a:endParaRPr lang="en-US"/>
          </a:p>
        </p:txBody>
      </p:sp>
    </p:spTree>
    <p:extLst>
      <p:ext uri="{BB962C8B-B14F-4D97-AF65-F5344CB8AC3E}">
        <p14:creationId xmlns:p14="http://schemas.microsoft.com/office/powerpoint/2010/main" val="3084145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70828-1957-C553-A5BB-AEB6A06ADF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10693F-1A58-E07B-CB62-480C0B4C26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D799A-2F0B-1B6C-9B29-942D97DDD5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11AAF3-42A6-FC47-9730-9260FFC6C88F}" type="datetimeFigureOut">
              <a:rPr lang="en-US" smtClean="0"/>
              <a:t>9/18/24</a:t>
            </a:fld>
            <a:endParaRPr lang="en-US"/>
          </a:p>
        </p:txBody>
      </p:sp>
      <p:sp>
        <p:nvSpPr>
          <p:cNvPr id="5" name="Footer Placeholder 4">
            <a:extLst>
              <a:ext uri="{FF2B5EF4-FFF2-40B4-BE49-F238E27FC236}">
                <a16:creationId xmlns:a16="http://schemas.microsoft.com/office/drawing/2014/main" id="{47540726-3FC2-E0E4-E99D-55BBBD7BD5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F39E464-71BD-67D3-935F-CBD365AFD7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20B9EC-97E0-7840-A687-F29314997EC7}" type="slidenum">
              <a:rPr lang="en-US" smtClean="0"/>
              <a:t>‹#›</a:t>
            </a:fld>
            <a:endParaRPr lang="en-US"/>
          </a:p>
        </p:txBody>
      </p:sp>
    </p:spTree>
    <p:extLst>
      <p:ext uri="{BB962C8B-B14F-4D97-AF65-F5344CB8AC3E}">
        <p14:creationId xmlns:p14="http://schemas.microsoft.com/office/powerpoint/2010/main" val="2902016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3F8F2E-B05F-3950-8DFC-54A3C3871D99}"/>
              </a:ext>
            </a:extLst>
          </p:cNvPr>
          <p:cNvSpPr txBox="1">
            <a:spLocks/>
          </p:cNvSpPr>
          <p:nvPr/>
        </p:nvSpPr>
        <p:spPr>
          <a:xfrm>
            <a:off x="520262" y="1525619"/>
            <a:ext cx="10980683" cy="132556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latin typeface="Times New Roman" panose="02020603050405020304" pitchFamily="18" charset="0"/>
                <a:cs typeface="Times New Roman" panose="02020603050405020304" pitchFamily="18" charset="0"/>
              </a:rPr>
              <a:t>Predicting COVID-19 Variant Dominance Using Early-Stage Time Series from GISAID Data</a:t>
            </a:r>
            <a:endParaRPr lang="en-US" altLang="ko-KR"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1AB7F16-645B-9B5B-F1AB-0058DF607612}"/>
              </a:ext>
            </a:extLst>
          </p:cNvPr>
          <p:cNvSpPr txBox="1"/>
          <p:nvPr/>
        </p:nvSpPr>
        <p:spPr>
          <a:xfrm>
            <a:off x="5424987" y="3683653"/>
            <a:ext cx="1342034" cy="830997"/>
          </a:xfrm>
          <a:prstGeom prst="rect">
            <a:avLst/>
          </a:prstGeom>
          <a:noFill/>
        </p:spPr>
        <p:txBody>
          <a:bodyPr wrap="none" rtlCol="0">
            <a:spAutoFit/>
          </a:bodyPr>
          <a:lstStyle/>
          <a:p>
            <a:pPr algn="ctr"/>
            <a:r>
              <a:rPr lang="en-US" sz="1600" dirty="0">
                <a:latin typeface="Times New Roman" panose="02020603050405020304" pitchFamily="18" charset="0"/>
                <a:cs typeface="Times New Roman" panose="02020603050405020304" pitchFamily="18" charset="0"/>
              </a:rPr>
              <a:t>Aug 28, 2024</a:t>
            </a:r>
          </a:p>
          <a:p>
            <a:pPr algn="ctr"/>
            <a:endParaRPr lang="en-US" sz="1600" dirty="0">
              <a:latin typeface="Times New Roman" panose="02020603050405020304" pitchFamily="18" charset="0"/>
              <a:cs typeface="Times New Roman" panose="02020603050405020304" pitchFamily="18" charset="0"/>
            </a:endParaRPr>
          </a:p>
          <a:p>
            <a:pPr algn="ctr"/>
            <a:r>
              <a:rPr lang="en-US" sz="1600" dirty="0">
                <a:latin typeface="Times New Roman" panose="02020603050405020304" pitchFamily="18" charset="0"/>
                <a:cs typeface="Times New Roman" panose="02020603050405020304" pitchFamily="18" charset="0"/>
              </a:rPr>
              <a:t>Franky Zhang</a:t>
            </a:r>
          </a:p>
        </p:txBody>
      </p:sp>
    </p:spTree>
    <p:extLst>
      <p:ext uri="{BB962C8B-B14F-4D97-AF65-F5344CB8AC3E}">
        <p14:creationId xmlns:p14="http://schemas.microsoft.com/office/powerpoint/2010/main" val="1061057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4C2193-4A75-F21A-48F8-EB5E94396C99}"/>
              </a:ext>
            </a:extLst>
          </p:cNvPr>
          <p:cNvSpPr>
            <a:spLocks noGrp="1"/>
          </p:cNvSpPr>
          <p:nvPr>
            <p:ph type="title"/>
          </p:nvPr>
        </p:nvSpPr>
        <p:spPr>
          <a:xfrm>
            <a:off x="342527" y="130440"/>
            <a:ext cx="10515600" cy="751840"/>
          </a:xfrm>
        </p:spPr>
        <p:txBody>
          <a:bodyPr>
            <a:normAutofit/>
          </a:bodyPr>
          <a:lstStyle/>
          <a:p>
            <a:r>
              <a:rPr lang="en-US" sz="3600" b="1" dirty="0">
                <a:latin typeface="+mn-lt"/>
                <a:cs typeface="Times New Roman" panose="02020603050405020304" pitchFamily="18" charset="0"/>
              </a:rPr>
              <a:t>Introduction</a:t>
            </a:r>
          </a:p>
        </p:txBody>
      </p:sp>
      <p:sp>
        <p:nvSpPr>
          <p:cNvPr id="6" name="Content Placeholder 2">
            <a:extLst>
              <a:ext uri="{FF2B5EF4-FFF2-40B4-BE49-F238E27FC236}">
                <a16:creationId xmlns:a16="http://schemas.microsoft.com/office/drawing/2014/main" id="{96E540A5-DB2C-675F-17F4-730E2242DD92}"/>
              </a:ext>
            </a:extLst>
          </p:cNvPr>
          <p:cNvSpPr txBox="1">
            <a:spLocks/>
          </p:cNvSpPr>
          <p:nvPr/>
        </p:nvSpPr>
        <p:spPr>
          <a:xfrm>
            <a:off x="342526" y="1012291"/>
            <a:ext cx="11678785" cy="57152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1900" b="1" dirty="0">
                <a:latin typeface="Arial" panose="020B0604020202020204" pitchFamily="34" charset="0"/>
                <a:cs typeface="Times New Roman" panose="02020603050405020304" pitchFamily="18" charset="0"/>
              </a:rPr>
              <a:t>Data Description</a:t>
            </a:r>
          </a:p>
          <a:p>
            <a:pPr lvl="1">
              <a:lnSpc>
                <a:spcPct val="120000"/>
              </a:lnSpc>
            </a:pPr>
            <a:r>
              <a:rPr lang="en-US" sz="2000" dirty="0">
                <a:effectLst/>
                <a:latin typeface="Times New Roman" panose="02020603050405020304" pitchFamily="18" charset="0"/>
                <a:ea typeface="DengXian" panose="02010600030101010101" pitchFamily="2" charset="-122"/>
              </a:rPr>
              <a:t>Global GISAID data provides open access to genomic information on influenza viruses and, more recently, the SARS-CoV-2 virus responsible for COVID-19.</a:t>
            </a:r>
            <a:endParaRPr lang="en-US" sz="1200" b="1" dirty="0">
              <a:effectLst/>
              <a:latin typeface="Arial" panose="020B0604020202020204" pitchFamily="34" charset="0"/>
              <a:cs typeface="Times New Roman" panose="02020603050405020304" pitchFamily="18" charset="0"/>
            </a:endParaRPr>
          </a:p>
          <a:p>
            <a:pPr lvl="1">
              <a:lnSpc>
                <a:spcPct val="120000"/>
              </a:lnSpc>
            </a:pPr>
            <a:r>
              <a:rPr lang="en-US" sz="2000" dirty="0">
                <a:effectLst/>
                <a:latin typeface="Times New Roman" panose="02020603050405020304" pitchFamily="18" charset="0"/>
                <a:ea typeface="DengXian" panose="02010600030101010101" pitchFamily="2" charset="-122"/>
              </a:rPr>
              <a:t>The dataset includes the number of infections caused by different COVID-19 variants across various countries, with current data available for South Korea and the United Kingdom, spanning specific dates from January 2020 to May 2024.</a:t>
            </a:r>
          </a:p>
          <a:p>
            <a:pPr lvl="1">
              <a:lnSpc>
                <a:spcPct val="120000"/>
              </a:lnSpc>
            </a:pPr>
            <a:r>
              <a:rPr lang="en-US" sz="2000" kern="100" dirty="0">
                <a:latin typeface="Times New Roman" panose="02020603050405020304" pitchFamily="18" charset="0"/>
                <a:ea typeface="DengXian" panose="02010600030101010101" pitchFamily="2" charset="-122"/>
                <a:cs typeface="Times New Roman" panose="02020603050405020304" pitchFamily="18" charset="0"/>
              </a:rPr>
              <a:t>A</a:t>
            </a:r>
            <a:r>
              <a:rPr lang="en-US" sz="2000" kern="100" dirty="0">
                <a:effectLst/>
                <a:latin typeface="Times New Roman" panose="02020603050405020304" pitchFamily="18" charset="0"/>
                <a:ea typeface="DengXian" panose="02010600030101010101" pitchFamily="2" charset="-122"/>
                <a:cs typeface="Times New Roman" panose="02020603050405020304" pitchFamily="18" charset="0"/>
              </a:rPr>
              <a:t>llowing for data processing with a resolution that uses the day as the unit of analysis.</a:t>
            </a:r>
          </a:p>
          <a:p>
            <a:pPr marL="457200" lvl="1" indent="0">
              <a:lnSpc>
                <a:spcPct val="120000"/>
              </a:lnSpc>
              <a:buNone/>
            </a:pPr>
            <a:endParaRPr lang="en-US" sz="1600" kern="100" dirty="0">
              <a:latin typeface="Arial" panose="020B0604020202020204" pitchFamily="34" charset="0"/>
              <a:ea typeface="DengXian" panose="02010600030101010101" pitchFamily="2" charset="-122"/>
              <a:cs typeface="Arial" panose="020B0604020202020204" pitchFamily="34" charset="0"/>
            </a:endParaRPr>
          </a:p>
          <a:p>
            <a:pPr>
              <a:lnSpc>
                <a:spcPct val="120000"/>
              </a:lnSpc>
              <a:buFont typeface="Wingdings" pitchFamily="2" charset="2"/>
              <a:buChar char="v"/>
            </a:pPr>
            <a:r>
              <a:rPr lang="en-US" sz="1900" b="1" dirty="0">
                <a:latin typeface="Arial" panose="020B0604020202020204" pitchFamily="34" charset="0"/>
                <a:cs typeface="Times New Roman" panose="02020603050405020304" pitchFamily="18" charset="0"/>
              </a:rPr>
              <a:t>Deliverable Goals</a:t>
            </a:r>
          </a:p>
          <a:p>
            <a:pPr lvl="1">
              <a:lnSpc>
                <a:spcPct val="120000"/>
              </a:lnSpc>
            </a:pPr>
            <a:r>
              <a:rPr lang="en-US" sz="1800" dirty="0">
                <a:latin typeface="Times New Roman" panose="02020603050405020304" pitchFamily="18" charset="0"/>
                <a:ea typeface="DengXian" panose="02010600030101010101" pitchFamily="2" charset="-122"/>
                <a:cs typeface="Times New Roman" panose="02020603050405020304" pitchFamily="18" charset="0"/>
              </a:rPr>
              <a:t>Exploring the Relationship Between Early-Stage Patterns and the Dominance of COVID-19 Variants. </a:t>
            </a:r>
          </a:p>
          <a:p>
            <a:pPr lvl="1">
              <a:lnSpc>
                <a:spcPct val="120000"/>
              </a:lnSpc>
            </a:pPr>
            <a:r>
              <a:rPr lang="en-US" sz="1800" kern="0" dirty="0">
                <a:effectLst/>
                <a:latin typeface="Times New Roman" panose="02020603050405020304" pitchFamily="18" charset="0"/>
                <a:ea typeface="DengXian" panose="02010600030101010101" pitchFamily="2" charset="-122"/>
              </a:rPr>
              <a:t>Developing robust statistical models that can be applied across various countries globally to predict the dominance of COVID-19 variants using entire time series data rather than relying on summary statistics.</a:t>
            </a:r>
          </a:p>
          <a:p>
            <a:pPr lvl="1">
              <a:lnSpc>
                <a:spcPct val="120000"/>
              </a:lnSpc>
            </a:pPr>
            <a:r>
              <a:rPr lang="en-US" sz="1800" kern="0" dirty="0">
                <a:latin typeface="Times New Roman" panose="02020603050405020304" pitchFamily="18" charset="0"/>
                <a:ea typeface="DengXian" panose="02010600030101010101" pitchFamily="2" charset="-122"/>
                <a:cs typeface="Arial" panose="020B0604020202020204" pitchFamily="34" charset="0"/>
              </a:rPr>
              <a:t>Quantify the associations between countries and viral strains to guide surveillance efforts.</a:t>
            </a:r>
            <a:endParaRPr lang="en-US" sz="1800" kern="100" dirty="0">
              <a:effectLst/>
              <a:latin typeface="Times New Roman" panose="02020603050405020304" pitchFamily="18" charset="0"/>
              <a:ea typeface="DengXian" panose="02010600030101010101" pitchFamily="2" charset="-122"/>
              <a:cs typeface="Times New Roman" panose="02020603050405020304" pitchFamily="18" charset="0"/>
            </a:endParaRPr>
          </a:p>
        </p:txBody>
      </p:sp>
      <p:sp>
        <p:nvSpPr>
          <p:cNvPr id="7" name="직사각형 3">
            <a:extLst>
              <a:ext uri="{FF2B5EF4-FFF2-40B4-BE49-F238E27FC236}">
                <a16:creationId xmlns:a16="http://schemas.microsoft.com/office/drawing/2014/main" id="{4D70F45B-311D-6332-DACA-9BDC760BB086}"/>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직사각형 8">
            <a:extLst>
              <a:ext uri="{FF2B5EF4-FFF2-40B4-BE49-F238E27FC236}">
                <a16:creationId xmlns:a16="http://schemas.microsoft.com/office/drawing/2014/main" id="{3F8E791E-605D-4447-51F4-F7E07A6CAF11}"/>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9" name="TextBox 8">
            <a:extLst>
              <a:ext uri="{FF2B5EF4-FFF2-40B4-BE49-F238E27FC236}">
                <a16:creationId xmlns:a16="http://schemas.microsoft.com/office/drawing/2014/main" id="{6B7D9F38-C56F-6D5B-6092-97A6642A100F}"/>
              </a:ext>
            </a:extLst>
          </p:cNvPr>
          <p:cNvSpPr txBox="1"/>
          <p:nvPr/>
        </p:nvSpPr>
        <p:spPr>
          <a:xfrm>
            <a:off x="11719034" y="6489708"/>
            <a:ext cx="472966" cy="367863"/>
          </a:xfrm>
          <a:prstGeom prst="rect">
            <a:avLst/>
          </a:prstGeom>
          <a:noFill/>
        </p:spPr>
        <p:txBody>
          <a:bodyPr wrap="square" rtlCol="0">
            <a:spAutoFit/>
          </a:bodyPr>
          <a:lstStyle/>
          <a:p>
            <a:pPr algn="ctr"/>
            <a:r>
              <a:rPr lang="en-US" dirty="0">
                <a:latin typeface="Abadi" panose="020F0502020204030204" pitchFamily="34" charset="0"/>
                <a:cs typeface="Abadi" panose="020F0502020204030204" pitchFamily="34" charset="0"/>
              </a:rPr>
              <a:t>1</a:t>
            </a:r>
          </a:p>
        </p:txBody>
      </p:sp>
    </p:spTree>
    <p:extLst>
      <p:ext uri="{BB962C8B-B14F-4D97-AF65-F5344CB8AC3E}">
        <p14:creationId xmlns:p14="http://schemas.microsoft.com/office/powerpoint/2010/main" val="2558202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387B94A-190D-B9E7-1A87-CD9493181B10}"/>
              </a:ext>
            </a:extLst>
          </p:cNvPr>
          <p:cNvSpPr>
            <a:spLocks noGrp="1"/>
          </p:cNvSpPr>
          <p:nvPr>
            <p:ph type="title"/>
          </p:nvPr>
        </p:nvSpPr>
        <p:spPr>
          <a:xfrm>
            <a:off x="342527" y="119232"/>
            <a:ext cx="3855543" cy="731520"/>
          </a:xfrm>
        </p:spPr>
        <p:txBody>
          <a:bodyPr>
            <a:normAutofit/>
          </a:bodyPr>
          <a:lstStyle/>
          <a:p>
            <a:r>
              <a:rPr lang="en-US" sz="3200" b="1" dirty="0">
                <a:latin typeface="+mn-lt"/>
                <a:cs typeface="Times New Roman" panose="02020603050405020304" pitchFamily="18" charset="0"/>
              </a:rPr>
              <a:t>Methodology</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C9E2E66D-1CEF-01F0-5412-555BD5F4380D}"/>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62251772-7ECE-4EBF-D892-25266B456385}"/>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8" name="Content Placeholder 2">
            <a:extLst>
              <a:ext uri="{FF2B5EF4-FFF2-40B4-BE49-F238E27FC236}">
                <a16:creationId xmlns:a16="http://schemas.microsoft.com/office/drawing/2014/main" id="{CAAAEB00-BBE3-FFA1-D6AF-CA0AE6175AC2}"/>
              </a:ext>
            </a:extLst>
          </p:cNvPr>
          <p:cNvSpPr txBox="1">
            <a:spLocks/>
          </p:cNvSpPr>
          <p:nvPr/>
        </p:nvSpPr>
        <p:spPr>
          <a:xfrm>
            <a:off x="342526" y="1012291"/>
            <a:ext cx="11678785" cy="57152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sz="2000" b="1" dirty="0">
                <a:latin typeface="Times New Roman" panose="02020603050405020304" pitchFamily="18" charset="0"/>
                <a:cs typeface="Times New Roman" panose="02020603050405020304" pitchFamily="18" charset="0"/>
              </a:rPr>
              <a:t>Variants Classification: </a:t>
            </a: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The daily infection data, encompassing </a:t>
            </a:r>
            <a:r>
              <a:rPr lang="en-US" sz="2000" b="1" dirty="0">
                <a:effectLst/>
                <a:latin typeface="Times New Roman" panose="02020603050405020304" pitchFamily="18" charset="0"/>
                <a:ea typeface="DengXian" panose="02010600030101010101" pitchFamily="2" charset="-122"/>
                <a:cs typeface="Times New Roman" panose="02020603050405020304" pitchFamily="18" charset="0"/>
              </a:rPr>
              <a:t>over 2,000 lineages </a:t>
            </a: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for each country (South Korea and the United Kingdom), was grouped into </a:t>
            </a:r>
            <a:r>
              <a:rPr lang="en-US" sz="2000" b="1" dirty="0">
                <a:effectLst/>
                <a:latin typeface="Times New Roman" panose="02020603050405020304" pitchFamily="18" charset="0"/>
                <a:ea typeface="DengXian" panose="02010600030101010101" pitchFamily="2" charset="-122"/>
                <a:cs typeface="Times New Roman" panose="02020603050405020304" pitchFamily="18" charset="0"/>
              </a:rPr>
              <a:t>88 classified lineages </a:t>
            </a: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based on strings of possible parent lineages.</a:t>
            </a:r>
          </a:p>
          <a:p>
            <a:pPr>
              <a:lnSpc>
                <a:spcPct val="120000"/>
              </a:lnSpc>
            </a:pPr>
            <a:endParaRPr lang="en-US" sz="2000" b="1" dirty="0">
              <a:latin typeface="Times New Roman" panose="02020603050405020304" pitchFamily="18" charset="0"/>
              <a:cs typeface="Times New Roman" panose="02020603050405020304" pitchFamily="18" charset="0"/>
            </a:endParaRPr>
          </a:p>
          <a:p>
            <a:pPr>
              <a:lnSpc>
                <a:spcPct val="120000"/>
              </a:lnSpc>
            </a:pPr>
            <a:r>
              <a:rPr lang="en-US" sz="2000" b="1" kern="100" dirty="0">
                <a:latin typeface="Times New Roman" panose="02020603050405020304" pitchFamily="18" charset="0"/>
                <a:ea typeface="DengXian" panose="02010600030101010101" pitchFamily="2" charset="-122"/>
                <a:cs typeface="Times New Roman" panose="02020603050405020304" pitchFamily="18" charset="0"/>
              </a:rPr>
              <a:t>Smoothing to Generate Growth Rate: </a:t>
            </a:r>
            <a:r>
              <a:rPr lang="en-US" sz="2000" kern="100" dirty="0">
                <a:latin typeface="Times New Roman" panose="02020603050405020304" pitchFamily="18" charset="0"/>
                <a:ea typeface="DengXian" panose="02010600030101010101" pitchFamily="2" charset="-122"/>
                <a:cs typeface="Times New Roman" panose="02020603050405020304" pitchFamily="18" charset="0"/>
              </a:rPr>
              <a:t>The grouped data was smoothed using a Generalized Additive Model (GAM), which reduced noise and irregularities, resulting in a smoother curve that more accurately represents the underlying trend. The growth rate was then derived from the first derivative of smoothed curves.</a:t>
            </a:r>
          </a:p>
          <a:p>
            <a:pPr>
              <a:lnSpc>
                <a:spcPct val="120000"/>
              </a:lnSpc>
            </a:pPr>
            <a:endParaRPr lang="en-US" sz="2000" kern="100" dirty="0">
              <a:latin typeface="Times New Roman" panose="02020603050405020304" pitchFamily="18" charset="0"/>
              <a:ea typeface="DengXian" panose="02010600030101010101" pitchFamily="2" charset="-122"/>
              <a:cs typeface="Times New Roman" panose="02020603050405020304" pitchFamily="18" charset="0"/>
            </a:endParaRPr>
          </a:p>
          <a:p>
            <a:pPr>
              <a:lnSpc>
                <a:spcPct val="120000"/>
              </a:lnSpc>
            </a:pPr>
            <a:r>
              <a:rPr lang="en-US" sz="2000" b="1" kern="100" dirty="0">
                <a:latin typeface="Times New Roman" panose="02020603050405020304" pitchFamily="18" charset="0"/>
                <a:ea typeface="DengXian" panose="02010600030101010101" pitchFamily="2" charset="-122"/>
                <a:cs typeface="Times New Roman" panose="02020603050405020304" pitchFamily="18" charset="0"/>
              </a:rPr>
              <a:t>Series Compression and Model fitting: </a:t>
            </a:r>
            <a:r>
              <a:rPr lang="en-US" sz="2000" kern="100" dirty="0">
                <a:effectLst/>
                <a:latin typeface="Times New Roman" panose="02020603050405020304" pitchFamily="18" charset="0"/>
                <a:ea typeface="DengXian" panose="02010600030101010101" pitchFamily="2" charset="-122"/>
                <a:cs typeface="Times New Roman" panose="02020603050405020304" pitchFamily="18" charset="0"/>
              </a:rPr>
              <a:t>The time series data for the initial period of each variant's appearance in the country was compressed using Piecewise Aggregate Approximation (PAA). For example, 30 days of data were compressed into a time series of length 6. Linear regressions were then fitted to the compressed data.</a:t>
            </a:r>
          </a:p>
          <a:p>
            <a:pPr>
              <a:lnSpc>
                <a:spcPct val="120000"/>
              </a:lnSpc>
            </a:pPr>
            <a:endParaRPr lang="en-US" sz="2000" kern="100" dirty="0">
              <a:latin typeface="Times New Roman" panose="02020603050405020304" pitchFamily="18" charset="0"/>
              <a:ea typeface="DengXian" panose="02010600030101010101" pitchFamily="2" charset="-122"/>
              <a:cs typeface="Times New Roman" panose="02020603050405020304" pitchFamily="18" charset="0"/>
            </a:endParaRPr>
          </a:p>
        </p:txBody>
      </p:sp>
      <p:sp>
        <p:nvSpPr>
          <p:cNvPr id="9" name="TextBox 8">
            <a:extLst>
              <a:ext uri="{FF2B5EF4-FFF2-40B4-BE49-F238E27FC236}">
                <a16:creationId xmlns:a16="http://schemas.microsoft.com/office/drawing/2014/main" id="{D0BE7A94-E27C-6B63-79F8-9A325293AE30}"/>
              </a:ext>
            </a:extLst>
          </p:cNvPr>
          <p:cNvSpPr txBox="1"/>
          <p:nvPr/>
        </p:nvSpPr>
        <p:spPr>
          <a:xfrm>
            <a:off x="11719034" y="6489708"/>
            <a:ext cx="472966" cy="367863"/>
          </a:xfrm>
          <a:prstGeom prst="rect">
            <a:avLst/>
          </a:prstGeom>
          <a:noFill/>
        </p:spPr>
        <p:txBody>
          <a:bodyPr wrap="square" rtlCol="0">
            <a:spAutoFit/>
          </a:bodyPr>
          <a:lstStyle/>
          <a:p>
            <a:pPr algn="ctr"/>
            <a:r>
              <a:rPr lang="en-US" dirty="0">
                <a:latin typeface="Abadi" panose="020F0502020204030204" pitchFamily="34" charset="0"/>
                <a:cs typeface="Abadi" panose="020F0502020204030204" pitchFamily="34" charset="0"/>
              </a:rPr>
              <a:t>2</a:t>
            </a:r>
          </a:p>
        </p:txBody>
      </p:sp>
    </p:spTree>
    <p:extLst>
      <p:ext uri="{BB962C8B-B14F-4D97-AF65-F5344CB8AC3E}">
        <p14:creationId xmlns:p14="http://schemas.microsoft.com/office/powerpoint/2010/main" val="3833786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of different colored bars&#10;&#10;Description automatically generated">
            <a:extLst>
              <a:ext uri="{FF2B5EF4-FFF2-40B4-BE49-F238E27FC236}">
                <a16:creationId xmlns:a16="http://schemas.microsoft.com/office/drawing/2014/main" id="{D1A5F8B3-A484-5AAD-48FC-AB13BFC02EB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8787" y="479323"/>
            <a:ext cx="10594426" cy="6378677"/>
          </a:xfrm>
          <a:prstGeom prst="rect">
            <a:avLst/>
          </a:prstGeom>
        </p:spPr>
      </p:pic>
      <p:sp>
        <p:nvSpPr>
          <p:cNvPr id="5" name="Rectangle 4">
            <a:extLst>
              <a:ext uri="{FF2B5EF4-FFF2-40B4-BE49-F238E27FC236}">
                <a16:creationId xmlns:a16="http://schemas.microsoft.com/office/drawing/2014/main" id="{5FAD7F66-109F-5629-EECD-5E8FAD89885D}"/>
              </a:ext>
            </a:extLst>
          </p:cNvPr>
          <p:cNvSpPr/>
          <p:nvPr/>
        </p:nvSpPr>
        <p:spPr>
          <a:xfrm>
            <a:off x="614855" y="216564"/>
            <a:ext cx="10962290" cy="5255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8E510A3D-8BB9-6FFE-3B43-FE6F89716512}"/>
              </a:ext>
            </a:extLst>
          </p:cNvPr>
          <p:cNvSpPr>
            <a:spLocks noGrp="1"/>
          </p:cNvSpPr>
          <p:nvPr>
            <p:ph type="title"/>
          </p:nvPr>
        </p:nvSpPr>
        <p:spPr>
          <a:xfrm>
            <a:off x="9199220" y="356039"/>
            <a:ext cx="3042663" cy="525518"/>
          </a:xfrm>
        </p:spPr>
        <p:txBody>
          <a:bodyPr>
            <a:normAutofit fontScale="90000"/>
          </a:bodyPr>
          <a:lstStyle/>
          <a:p>
            <a:pPr marL="342900" indent="-342900" algn="ct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Definition of Dominance:</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Sum of the shares</a:t>
            </a:r>
            <a:endParaRPr lang="en-US" sz="2400" b="1" dirty="0">
              <a:latin typeface="Times New Roman" panose="02020603050405020304" pitchFamily="18" charset="0"/>
              <a:cs typeface="Times New Roman" panose="02020603050405020304" pitchFamily="18" charset="0"/>
            </a:endParaRPr>
          </a:p>
        </p:txBody>
      </p:sp>
      <p:sp>
        <p:nvSpPr>
          <p:cNvPr id="7" name="직사각형 3">
            <a:extLst>
              <a:ext uri="{FF2B5EF4-FFF2-40B4-BE49-F238E27FC236}">
                <a16:creationId xmlns:a16="http://schemas.microsoft.com/office/drawing/2014/main" id="{0D796A35-3BDC-BBE1-0051-2D2E69E667EF}"/>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직사각형 8">
            <a:extLst>
              <a:ext uri="{FF2B5EF4-FFF2-40B4-BE49-F238E27FC236}">
                <a16:creationId xmlns:a16="http://schemas.microsoft.com/office/drawing/2014/main" id="{FED2DE10-35DA-00DB-F06B-4BE0262D7F70}"/>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cxnSp>
        <p:nvCxnSpPr>
          <p:cNvPr id="10" name="Curved Connector 9">
            <a:extLst>
              <a:ext uri="{FF2B5EF4-FFF2-40B4-BE49-F238E27FC236}">
                <a16:creationId xmlns:a16="http://schemas.microsoft.com/office/drawing/2014/main" id="{D64A2CE3-4953-C2D3-44D0-0A77510443BE}"/>
              </a:ext>
            </a:extLst>
          </p:cNvPr>
          <p:cNvCxnSpPr>
            <a:cxnSpLocks/>
          </p:cNvCxnSpPr>
          <p:nvPr/>
        </p:nvCxnSpPr>
        <p:spPr>
          <a:xfrm rot="5400000">
            <a:off x="8019393" y="3794234"/>
            <a:ext cx="3846786" cy="231228"/>
          </a:xfrm>
          <a:prstGeom prst="curvedConnector3">
            <a:avLst>
              <a:gd name="adj1" fmla="val 64481"/>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Curved Connector 21">
            <a:extLst>
              <a:ext uri="{FF2B5EF4-FFF2-40B4-BE49-F238E27FC236}">
                <a16:creationId xmlns:a16="http://schemas.microsoft.com/office/drawing/2014/main" id="{9AF548F7-C967-6A59-3DA3-54B901A87EC3}"/>
              </a:ext>
            </a:extLst>
          </p:cNvPr>
          <p:cNvCxnSpPr/>
          <p:nvPr/>
        </p:nvCxnSpPr>
        <p:spPr>
          <a:xfrm rot="5400000" flipH="1" flipV="1">
            <a:off x="9963807" y="1061545"/>
            <a:ext cx="1008993" cy="798787"/>
          </a:xfrm>
          <a:prstGeom prst="curvedConnector3">
            <a:avLst>
              <a:gd name="adj1" fmla="val 97917"/>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84055478-7925-B32A-31B9-300AFC371CD6}"/>
              </a:ext>
            </a:extLst>
          </p:cNvPr>
          <p:cNvCxnSpPr/>
          <p:nvPr/>
        </p:nvCxnSpPr>
        <p:spPr>
          <a:xfrm flipH="1">
            <a:off x="10068910" y="956442"/>
            <a:ext cx="651642" cy="872358"/>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B3C4616B-4812-6E76-E29F-D8848F2DE9E6}"/>
              </a:ext>
            </a:extLst>
          </p:cNvPr>
          <p:cNvCxnSpPr>
            <a:cxnSpLocks/>
          </p:cNvCxnSpPr>
          <p:nvPr/>
        </p:nvCxnSpPr>
        <p:spPr>
          <a:xfrm flipH="1">
            <a:off x="10068910" y="1176371"/>
            <a:ext cx="825064" cy="108493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BEA26E41-B4BC-D2C1-32A5-AD2378DBBCD6}"/>
              </a:ext>
            </a:extLst>
          </p:cNvPr>
          <p:cNvCxnSpPr>
            <a:cxnSpLocks/>
          </p:cNvCxnSpPr>
          <p:nvPr/>
        </p:nvCxnSpPr>
        <p:spPr>
          <a:xfrm flipH="1">
            <a:off x="10076792" y="1643556"/>
            <a:ext cx="817182" cy="105760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F7CCC80-67B0-01DB-045B-235817569202}"/>
              </a:ext>
            </a:extLst>
          </p:cNvPr>
          <p:cNvCxnSpPr>
            <a:cxnSpLocks/>
          </p:cNvCxnSpPr>
          <p:nvPr/>
        </p:nvCxnSpPr>
        <p:spPr>
          <a:xfrm flipH="1">
            <a:off x="10058400" y="2091559"/>
            <a:ext cx="835574" cy="1045778"/>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F158919B-6DFA-941F-72B3-12C13251DB1C}"/>
              </a:ext>
            </a:extLst>
          </p:cNvPr>
          <p:cNvCxnSpPr>
            <a:cxnSpLocks/>
          </p:cNvCxnSpPr>
          <p:nvPr/>
        </p:nvCxnSpPr>
        <p:spPr>
          <a:xfrm flipH="1">
            <a:off x="10040008" y="2524060"/>
            <a:ext cx="853966" cy="1049456"/>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0A1A3B-EB92-2BB8-B549-4FA9F5DBC4E6}"/>
              </a:ext>
            </a:extLst>
          </p:cNvPr>
          <p:cNvCxnSpPr>
            <a:cxnSpLocks/>
          </p:cNvCxnSpPr>
          <p:nvPr/>
        </p:nvCxnSpPr>
        <p:spPr>
          <a:xfrm flipH="1">
            <a:off x="10012792" y="2963917"/>
            <a:ext cx="854905" cy="1045778"/>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B2955585-D32D-F5B1-5661-3CA5B125FAAB}"/>
              </a:ext>
            </a:extLst>
          </p:cNvPr>
          <p:cNvCxnSpPr>
            <a:cxnSpLocks/>
          </p:cNvCxnSpPr>
          <p:nvPr/>
        </p:nvCxnSpPr>
        <p:spPr>
          <a:xfrm flipH="1">
            <a:off x="9957612" y="3309444"/>
            <a:ext cx="936362" cy="113643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C644E5FB-5502-7270-297F-44E48EDDF9FC}"/>
              </a:ext>
            </a:extLst>
          </p:cNvPr>
          <p:cNvCxnSpPr>
            <a:cxnSpLocks/>
          </p:cNvCxnSpPr>
          <p:nvPr/>
        </p:nvCxnSpPr>
        <p:spPr>
          <a:xfrm flipH="1">
            <a:off x="9863019" y="3745623"/>
            <a:ext cx="1030955" cy="1228395"/>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1200CA59-4BA0-241A-937B-6FF0D176FC36}"/>
              </a:ext>
            </a:extLst>
          </p:cNvPr>
          <p:cNvCxnSpPr>
            <a:cxnSpLocks/>
          </p:cNvCxnSpPr>
          <p:nvPr/>
        </p:nvCxnSpPr>
        <p:spPr>
          <a:xfrm flipH="1">
            <a:off x="9863019" y="4181802"/>
            <a:ext cx="1030955" cy="118306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67D29854-72BE-562D-6111-68813F9D78E2}"/>
              </a:ext>
            </a:extLst>
          </p:cNvPr>
          <p:cNvCxnSpPr>
            <a:cxnSpLocks/>
          </p:cNvCxnSpPr>
          <p:nvPr/>
        </p:nvCxnSpPr>
        <p:spPr>
          <a:xfrm flipH="1">
            <a:off x="9863019" y="4617981"/>
            <a:ext cx="1030955" cy="121526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40FA3FE5-DA38-0EF3-564D-EC903551C973}"/>
              </a:ext>
            </a:extLst>
          </p:cNvPr>
          <p:cNvCxnSpPr>
            <a:cxnSpLocks/>
          </p:cNvCxnSpPr>
          <p:nvPr/>
        </p:nvCxnSpPr>
        <p:spPr>
          <a:xfrm flipH="1">
            <a:off x="10242332" y="5050218"/>
            <a:ext cx="651642" cy="783023"/>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44D8483E-FE9B-93DF-60AE-513204B042C3}"/>
              </a:ext>
            </a:extLst>
          </p:cNvPr>
          <p:cNvCxnSpPr/>
          <p:nvPr/>
        </p:nvCxnSpPr>
        <p:spPr>
          <a:xfrm>
            <a:off x="10893974" y="956442"/>
            <a:ext cx="0" cy="48767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3437D43-598B-3AE5-0C7A-DEA2646DF9B1}"/>
              </a:ext>
            </a:extLst>
          </p:cNvPr>
          <p:cNvCxnSpPr>
            <a:cxnSpLocks/>
          </p:cNvCxnSpPr>
          <p:nvPr/>
        </p:nvCxnSpPr>
        <p:spPr>
          <a:xfrm>
            <a:off x="9827172" y="5833241"/>
            <a:ext cx="1066802"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72" name="Title 1">
            <a:extLst>
              <a:ext uri="{FF2B5EF4-FFF2-40B4-BE49-F238E27FC236}">
                <a16:creationId xmlns:a16="http://schemas.microsoft.com/office/drawing/2014/main" id="{7D553BEE-A5D3-31FE-BDC6-2A4CFEDCE6B1}"/>
              </a:ext>
            </a:extLst>
          </p:cNvPr>
          <p:cNvSpPr txBox="1">
            <a:spLocks/>
          </p:cNvSpPr>
          <p:nvPr/>
        </p:nvSpPr>
        <p:spPr>
          <a:xfrm>
            <a:off x="342527" y="119232"/>
            <a:ext cx="6537280" cy="731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mn-lt"/>
                <a:cs typeface="Times New Roman" panose="02020603050405020304" pitchFamily="18" charset="0"/>
              </a:rPr>
              <a:t>Monthly Sharing (South Korea) </a:t>
            </a:r>
            <a:endParaRPr lang="en-US" sz="3600" b="1" dirty="0">
              <a:latin typeface="+mn-lt"/>
              <a:cs typeface="Times New Roman" panose="02020603050405020304" pitchFamily="18" charset="0"/>
            </a:endParaRPr>
          </a:p>
        </p:txBody>
      </p:sp>
      <p:sp>
        <p:nvSpPr>
          <p:cNvPr id="73" name="TextBox 72">
            <a:extLst>
              <a:ext uri="{FF2B5EF4-FFF2-40B4-BE49-F238E27FC236}">
                <a16:creationId xmlns:a16="http://schemas.microsoft.com/office/drawing/2014/main" id="{681C507A-50EC-9D88-FC41-0F805C5874D7}"/>
              </a:ext>
            </a:extLst>
          </p:cNvPr>
          <p:cNvSpPr txBox="1"/>
          <p:nvPr/>
        </p:nvSpPr>
        <p:spPr>
          <a:xfrm>
            <a:off x="11719034" y="6489708"/>
            <a:ext cx="472966" cy="367863"/>
          </a:xfrm>
          <a:prstGeom prst="rect">
            <a:avLst/>
          </a:prstGeom>
          <a:noFill/>
        </p:spPr>
        <p:txBody>
          <a:bodyPr wrap="square" rtlCol="0">
            <a:spAutoFit/>
          </a:bodyPr>
          <a:lstStyle/>
          <a:p>
            <a:pPr algn="ctr"/>
            <a:r>
              <a:rPr lang="en-US" dirty="0">
                <a:latin typeface="Abadi" panose="020F0502020204030204" pitchFamily="34" charset="0"/>
                <a:cs typeface="Abadi" panose="020F0502020204030204" pitchFamily="34" charset="0"/>
              </a:rPr>
              <a:t>3</a:t>
            </a:r>
          </a:p>
        </p:txBody>
      </p:sp>
    </p:spTree>
    <p:extLst>
      <p:ext uri="{BB962C8B-B14F-4D97-AF65-F5344CB8AC3E}">
        <p14:creationId xmlns:p14="http://schemas.microsoft.com/office/powerpoint/2010/main" val="2922319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of different colored lines&#10;&#10;Description automatically generated with medium confidence">
            <a:extLst>
              <a:ext uri="{FF2B5EF4-FFF2-40B4-BE49-F238E27FC236}">
                <a16:creationId xmlns:a16="http://schemas.microsoft.com/office/drawing/2014/main" id="{FDB77D44-B215-B3ED-06C1-DFDD839762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603" y="475488"/>
            <a:ext cx="10600794" cy="6382512"/>
          </a:xfrm>
          <a:prstGeom prst="rect">
            <a:avLst/>
          </a:prstGeom>
        </p:spPr>
      </p:pic>
      <p:sp>
        <p:nvSpPr>
          <p:cNvPr id="5" name="Rectangle 4">
            <a:extLst>
              <a:ext uri="{FF2B5EF4-FFF2-40B4-BE49-F238E27FC236}">
                <a16:creationId xmlns:a16="http://schemas.microsoft.com/office/drawing/2014/main" id="{5FAD7F66-109F-5629-EECD-5E8FAD89885D}"/>
              </a:ext>
            </a:extLst>
          </p:cNvPr>
          <p:cNvSpPr/>
          <p:nvPr/>
        </p:nvSpPr>
        <p:spPr>
          <a:xfrm>
            <a:off x="887183" y="347151"/>
            <a:ext cx="10962290" cy="5255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8E510A3D-8BB9-6FFE-3B43-FE6F89716512}"/>
              </a:ext>
            </a:extLst>
          </p:cNvPr>
          <p:cNvSpPr>
            <a:spLocks noGrp="1"/>
          </p:cNvSpPr>
          <p:nvPr>
            <p:ph type="title"/>
          </p:nvPr>
        </p:nvSpPr>
        <p:spPr>
          <a:xfrm>
            <a:off x="342527" y="119232"/>
            <a:ext cx="6537280" cy="731520"/>
          </a:xfrm>
        </p:spPr>
        <p:txBody>
          <a:bodyPr>
            <a:normAutofit/>
          </a:bodyPr>
          <a:lstStyle/>
          <a:p>
            <a:r>
              <a:rPr lang="en-US" sz="3200" b="1" dirty="0">
                <a:latin typeface="+mn-lt"/>
                <a:cs typeface="Times New Roman" panose="02020603050405020304" pitchFamily="18" charset="0"/>
              </a:rPr>
              <a:t>Monthly Sharing (United Kingdom) </a:t>
            </a:r>
            <a:endParaRPr lang="en-US" sz="3600" b="1" dirty="0">
              <a:latin typeface="+mn-lt"/>
              <a:cs typeface="Times New Roman" panose="02020603050405020304" pitchFamily="18" charset="0"/>
            </a:endParaRPr>
          </a:p>
        </p:txBody>
      </p:sp>
      <p:sp>
        <p:nvSpPr>
          <p:cNvPr id="7" name="직사각형 3">
            <a:extLst>
              <a:ext uri="{FF2B5EF4-FFF2-40B4-BE49-F238E27FC236}">
                <a16:creationId xmlns:a16="http://schemas.microsoft.com/office/drawing/2014/main" id="{0D796A35-3BDC-BBE1-0051-2D2E69E667EF}"/>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직사각형 8">
            <a:extLst>
              <a:ext uri="{FF2B5EF4-FFF2-40B4-BE49-F238E27FC236}">
                <a16:creationId xmlns:a16="http://schemas.microsoft.com/office/drawing/2014/main" id="{FED2DE10-35DA-00DB-F06B-4BE0262D7F70}"/>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5AB11ADB-CAB3-009B-2397-22D988C01E45}"/>
              </a:ext>
            </a:extLst>
          </p:cNvPr>
          <p:cNvSpPr txBox="1"/>
          <p:nvPr/>
        </p:nvSpPr>
        <p:spPr>
          <a:xfrm>
            <a:off x="11719034" y="6489708"/>
            <a:ext cx="472966" cy="367863"/>
          </a:xfrm>
          <a:prstGeom prst="rect">
            <a:avLst/>
          </a:prstGeom>
          <a:noFill/>
        </p:spPr>
        <p:txBody>
          <a:bodyPr wrap="square" rtlCol="0">
            <a:spAutoFit/>
          </a:bodyPr>
          <a:lstStyle/>
          <a:p>
            <a:pPr algn="ctr"/>
            <a:r>
              <a:rPr lang="en-US" dirty="0">
                <a:latin typeface="Abadi" panose="020F0502020204030204" pitchFamily="34" charset="0"/>
                <a:cs typeface="Abadi" panose="020F0502020204030204" pitchFamily="34" charset="0"/>
              </a:rPr>
              <a:t>4</a:t>
            </a:r>
          </a:p>
        </p:txBody>
      </p:sp>
    </p:spTree>
    <p:extLst>
      <p:ext uri="{BB962C8B-B14F-4D97-AF65-F5344CB8AC3E}">
        <p14:creationId xmlns:p14="http://schemas.microsoft.com/office/powerpoint/2010/main" val="3906091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C9B3E18E-9DFD-2E1F-D5F8-4E1EAC7957EA}"/>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8">
            <a:extLst>
              <a:ext uri="{FF2B5EF4-FFF2-40B4-BE49-F238E27FC236}">
                <a16:creationId xmlns:a16="http://schemas.microsoft.com/office/drawing/2014/main" id="{24CC5CBB-48B2-D6CD-C9C2-0162A2DAB572}"/>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6" name="Title 1">
            <a:extLst>
              <a:ext uri="{FF2B5EF4-FFF2-40B4-BE49-F238E27FC236}">
                <a16:creationId xmlns:a16="http://schemas.microsoft.com/office/drawing/2014/main" id="{A3B907A2-C78C-36C7-3DF7-DB127AA0D28A}"/>
              </a:ext>
            </a:extLst>
          </p:cNvPr>
          <p:cNvSpPr>
            <a:spLocks noGrp="1"/>
          </p:cNvSpPr>
          <p:nvPr>
            <p:ph type="title"/>
          </p:nvPr>
        </p:nvSpPr>
        <p:spPr>
          <a:xfrm>
            <a:off x="342527" y="119232"/>
            <a:ext cx="6537280" cy="731520"/>
          </a:xfrm>
        </p:spPr>
        <p:txBody>
          <a:bodyPr>
            <a:normAutofit/>
          </a:bodyPr>
          <a:lstStyle/>
          <a:p>
            <a:r>
              <a:rPr lang="en-US" sz="3600" b="1" dirty="0">
                <a:latin typeface="+mn-lt"/>
                <a:cs typeface="Times New Roman" panose="02020603050405020304" pitchFamily="18" charset="0"/>
              </a:rPr>
              <a:t>Smoothing Procedure</a:t>
            </a:r>
          </a:p>
        </p:txBody>
      </p:sp>
      <p:sp>
        <p:nvSpPr>
          <p:cNvPr id="9" name="TextBox 8">
            <a:extLst>
              <a:ext uri="{FF2B5EF4-FFF2-40B4-BE49-F238E27FC236}">
                <a16:creationId xmlns:a16="http://schemas.microsoft.com/office/drawing/2014/main" id="{BBCAEEED-046A-6923-C83B-4207D3796D5B}"/>
              </a:ext>
            </a:extLst>
          </p:cNvPr>
          <p:cNvSpPr txBox="1"/>
          <p:nvPr/>
        </p:nvSpPr>
        <p:spPr>
          <a:xfrm>
            <a:off x="11719034" y="6489708"/>
            <a:ext cx="472966" cy="367863"/>
          </a:xfrm>
          <a:prstGeom prst="rect">
            <a:avLst/>
          </a:prstGeom>
          <a:noFill/>
        </p:spPr>
        <p:txBody>
          <a:bodyPr wrap="square" rtlCol="0">
            <a:spAutoFit/>
          </a:bodyPr>
          <a:lstStyle/>
          <a:p>
            <a:pPr algn="ctr"/>
            <a:r>
              <a:rPr lang="en-US" dirty="0">
                <a:latin typeface="Abadi" panose="020F0502020204030204" pitchFamily="34" charset="0"/>
                <a:cs typeface="Abadi" panose="020F0502020204030204" pitchFamily="34" charset="0"/>
              </a:rPr>
              <a:t>5</a:t>
            </a:r>
          </a:p>
        </p:txBody>
      </p:sp>
      <p:sp>
        <p:nvSpPr>
          <p:cNvPr id="10" name="Content Placeholder 2">
            <a:extLst>
              <a:ext uri="{FF2B5EF4-FFF2-40B4-BE49-F238E27FC236}">
                <a16:creationId xmlns:a16="http://schemas.microsoft.com/office/drawing/2014/main" id="{325EB888-AB9C-F185-C7FC-E0D6FB2CC3A7}"/>
              </a:ext>
            </a:extLst>
          </p:cNvPr>
          <p:cNvSpPr txBox="1">
            <a:spLocks/>
          </p:cNvSpPr>
          <p:nvPr/>
        </p:nvSpPr>
        <p:spPr>
          <a:xfrm>
            <a:off x="8557790" y="1333834"/>
            <a:ext cx="3634210" cy="39801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sz="1800" b="1" kern="100" dirty="0">
                <a:latin typeface="Times New Roman" panose="02020603050405020304" pitchFamily="18" charset="0"/>
                <a:ea typeface="DengXian" panose="02010600030101010101" pitchFamily="2" charset="-122"/>
                <a:cs typeface="Times New Roman" panose="02020603050405020304" pitchFamily="18" charset="0"/>
              </a:rPr>
              <a:t>The Patterns of Share and infection numbers can be very different. </a:t>
            </a:r>
          </a:p>
          <a:p>
            <a:pPr>
              <a:lnSpc>
                <a:spcPct val="120000"/>
              </a:lnSpc>
            </a:pPr>
            <a:endParaRPr lang="en-US" sz="1800" b="1" kern="100" dirty="0">
              <a:latin typeface="Times New Roman" panose="02020603050405020304" pitchFamily="18" charset="0"/>
              <a:ea typeface="DengXian" panose="02010600030101010101" pitchFamily="2" charset="-122"/>
              <a:cs typeface="Times New Roman" panose="02020603050405020304" pitchFamily="18" charset="0"/>
            </a:endParaRPr>
          </a:p>
          <a:p>
            <a:pPr>
              <a:lnSpc>
                <a:spcPct val="120000"/>
              </a:lnSpc>
            </a:pPr>
            <a:r>
              <a:rPr lang="en-US" sz="1800" b="1" kern="100" dirty="0">
                <a:latin typeface="Times New Roman" panose="02020603050405020304" pitchFamily="18" charset="0"/>
                <a:ea typeface="DengXian" panose="02010600030101010101" pitchFamily="2" charset="-122"/>
                <a:cs typeface="Times New Roman" panose="02020603050405020304" pitchFamily="18" charset="0"/>
              </a:rPr>
              <a:t>The smoothing Procedure can be understood as denoising. </a:t>
            </a:r>
          </a:p>
          <a:p>
            <a:pPr>
              <a:lnSpc>
                <a:spcPct val="120000"/>
              </a:lnSpc>
            </a:pPr>
            <a:endParaRPr lang="en-US" sz="1800" b="1" kern="100" dirty="0">
              <a:latin typeface="Times New Roman" panose="02020603050405020304" pitchFamily="18" charset="0"/>
              <a:ea typeface="DengXian" panose="02010600030101010101" pitchFamily="2" charset="-122"/>
              <a:cs typeface="Times New Roman" panose="02020603050405020304" pitchFamily="18" charset="0"/>
            </a:endParaRPr>
          </a:p>
          <a:p>
            <a:pPr>
              <a:lnSpc>
                <a:spcPct val="120000"/>
              </a:lnSpc>
            </a:pPr>
            <a:r>
              <a:rPr lang="en-US" sz="1800" b="1" kern="100" dirty="0">
                <a:latin typeface="Times New Roman" panose="02020603050405020304" pitchFamily="18" charset="0"/>
                <a:ea typeface="DengXian" panose="02010600030101010101" pitchFamily="2" charset="-122"/>
                <a:cs typeface="Times New Roman" panose="02020603050405020304" pitchFamily="18" charset="0"/>
              </a:rPr>
              <a:t>The growth rates can be calculated from the first derivative. </a:t>
            </a:r>
          </a:p>
        </p:txBody>
      </p:sp>
      <p:pic>
        <p:nvPicPr>
          <p:cNvPr id="3" name="Picture 2">
            <a:extLst>
              <a:ext uri="{FF2B5EF4-FFF2-40B4-BE49-F238E27FC236}">
                <a16:creationId xmlns:a16="http://schemas.microsoft.com/office/drawing/2014/main" id="{1DF8B0F9-7332-F739-5902-35CC949E13DA}"/>
              </a:ext>
            </a:extLst>
          </p:cNvPr>
          <p:cNvPicPr>
            <a:picLocks noChangeAspect="1"/>
          </p:cNvPicPr>
          <p:nvPr/>
        </p:nvPicPr>
        <p:blipFill>
          <a:blip r:embed="rId3"/>
          <a:stretch>
            <a:fillRect/>
          </a:stretch>
        </p:blipFill>
        <p:spPr>
          <a:xfrm>
            <a:off x="0" y="1109232"/>
            <a:ext cx="8523790" cy="4463420"/>
          </a:xfrm>
          <a:prstGeom prst="rect">
            <a:avLst/>
          </a:prstGeom>
        </p:spPr>
      </p:pic>
    </p:spTree>
    <p:extLst>
      <p:ext uri="{BB962C8B-B14F-4D97-AF65-F5344CB8AC3E}">
        <p14:creationId xmlns:p14="http://schemas.microsoft.com/office/powerpoint/2010/main" val="2921474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직사각형 3">
            <a:extLst>
              <a:ext uri="{FF2B5EF4-FFF2-40B4-BE49-F238E27FC236}">
                <a16:creationId xmlns:a16="http://schemas.microsoft.com/office/drawing/2014/main" id="{462F35E8-EAC3-1EB5-B6EB-94C634B2ED95}"/>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2DA1C480-A51E-BDB7-B7E4-2EE383A5C7DE}"/>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10" name="Title 1">
            <a:extLst>
              <a:ext uri="{FF2B5EF4-FFF2-40B4-BE49-F238E27FC236}">
                <a16:creationId xmlns:a16="http://schemas.microsoft.com/office/drawing/2014/main" id="{F4B0EFBF-5DE7-60A3-DB48-9F7C65F3B745}"/>
              </a:ext>
            </a:extLst>
          </p:cNvPr>
          <p:cNvSpPr>
            <a:spLocks noGrp="1"/>
          </p:cNvSpPr>
          <p:nvPr>
            <p:ph type="title"/>
          </p:nvPr>
        </p:nvSpPr>
        <p:spPr>
          <a:xfrm>
            <a:off x="342526" y="119232"/>
            <a:ext cx="11092729" cy="731520"/>
          </a:xfrm>
        </p:spPr>
        <p:txBody>
          <a:bodyPr>
            <a:normAutofit/>
          </a:bodyPr>
          <a:lstStyle/>
          <a:p>
            <a:r>
              <a:rPr lang="en-US" sz="3600" b="1" dirty="0">
                <a:latin typeface="+mn-lt"/>
                <a:cs typeface="Times New Roman" panose="02020603050405020304" pitchFamily="18" charset="0"/>
              </a:rPr>
              <a:t>Correlation Analysis</a:t>
            </a:r>
          </a:p>
        </p:txBody>
      </p:sp>
      <p:sp>
        <p:nvSpPr>
          <p:cNvPr id="11" name="TextBox 10">
            <a:extLst>
              <a:ext uri="{FF2B5EF4-FFF2-40B4-BE49-F238E27FC236}">
                <a16:creationId xmlns:a16="http://schemas.microsoft.com/office/drawing/2014/main" id="{0D2F6CCE-14D6-76D1-B25A-E580F7D2588C}"/>
              </a:ext>
            </a:extLst>
          </p:cNvPr>
          <p:cNvSpPr txBox="1"/>
          <p:nvPr/>
        </p:nvSpPr>
        <p:spPr>
          <a:xfrm>
            <a:off x="11719034" y="6489708"/>
            <a:ext cx="472966" cy="367863"/>
          </a:xfrm>
          <a:prstGeom prst="rect">
            <a:avLst/>
          </a:prstGeom>
          <a:noFill/>
        </p:spPr>
        <p:txBody>
          <a:bodyPr wrap="square" rtlCol="0">
            <a:spAutoFit/>
          </a:bodyPr>
          <a:lstStyle/>
          <a:p>
            <a:pPr algn="ctr"/>
            <a:r>
              <a:rPr lang="en-US" dirty="0">
                <a:latin typeface="Abadi" panose="020F0502020204030204" pitchFamily="34" charset="0"/>
                <a:cs typeface="Abadi" panose="020F0502020204030204" pitchFamily="34" charset="0"/>
              </a:rPr>
              <a:t>6</a:t>
            </a:r>
          </a:p>
        </p:txBody>
      </p:sp>
      <p:pic>
        <p:nvPicPr>
          <p:cNvPr id="3" name="Picture 2">
            <a:extLst>
              <a:ext uri="{FF2B5EF4-FFF2-40B4-BE49-F238E27FC236}">
                <a16:creationId xmlns:a16="http://schemas.microsoft.com/office/drawing/2014/main" id="{BC9D62AB-6419-DFB7-00D7-CBB5E76B7774}"/>
              </a:ext>
            </a:extLst>
          </p:cNvPr>
          <p:cNvPicPr>
            <a:picLocks noChangeAspect="1"/>
          </p:cNvPicPr>
          <p:nvPr/>
        </p:nvPicPr>
        <p:blipFill>
          <a:blip r:embed="rId3"/>
          <a:stretch>
            <a:fillRect/>
          </a:stretch>
        </p:blipFill>
        <p:spPr>
          <a:xfrm>
            <a:off x="1135117" y="850752"/>
            <a:ext cx="9921765" cy="6016389"/>
          </a:xfrm>
          <a:prstGeom prst="rect">
            <a:avLst/>
          </a:prstGeom>
        </p:spPr>
      </p:pic>
    </p:spTree>
    <p:extLst>
      <p:ext uri="{BB962C8B-B14F-4D97-AF65-F5344CB8AC3E}">
        <p14:creationId xmlns:p14="http://schemas.microsoft.com/office/powerpoint/2010/main" val="1534541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직사각형 3">
            <a:extLst>
              <a:ext uri="{FF2B5EF4-FFF2-40B4-BE49-F238E27FC236}">
                <a16:creationId xmlns:a16="http://schemas.microsoft.com/office/drawing/2014/main" id="{462F35E8-EAC3-1EB5-B6EB-94C634B2ED95}"/>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2DA1C480-A51E-BDB7-B7E4-2EE383A5C7DE}"/>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10" name="Title 1">
            <a:extLst>
              <a:ext uri="{FF2B5EF4-FFF2-40B4-BE49-F238E27FC236}">
                <a16:creationId xmlns:a16="http://schemas.microsoft.com/office/drawing/2014/main" id="{F4B0EFBF-5DE7-60A3-DB48-9F7C65F3B745}"/>
              </a:ext>
            </a:extLst>
          </p:cNvPr>
          <p:cNvSpPr>
            <a:spLocks noGrp="1"/>
          </p:cNvSpPr>
          <p:nvPr>
            <p:ph type="title"/>
          </p:nvPr>
        </p:nvSpPr>
        <p:spPr>
          <a:xfrm>
            <a:off x="342527" y="119232"/>
            <a:ext cx="11218852" cy="731520"/>
          </a:xfrm>
        </p:spPr>
        <p:txBody>
          <a:bodyPr>
            <a:normAutofit/>
          </a:bodyPr>
          <a:lstStyle/>
          <a:p>
            <a:r>
              <a:rPr lang="en-US" sz="3600" b="1" dirty="0">
                <a:latin typeface="+mn-lt"/>
                <a:cs typeface="Times New Roman" panose="02020603050405020304" pitchFamily="18" charset="0"/>
              </a:rPr>
              <a:t>Correlation Analysis</a:t>
            </a:r>
          </a:p>
        </p:txBody>
      </p:sp>
      <p:sp>
        <p:nvSpPr>
          <p:cNvPr id="11" name="TextBox 10">
            <a:extLst>
              <a:ext uri="{FF2B5EF4-FFF2-40B4-BE49-F238E27FC236}">
                <a16:creationId xmlns:a16="http://schemas.microsoft.com/office/drawing/2014/main" id="{0D2F6CCE-14D6-76D1-B25A-E580F7D2588C}"/>
              </a:ext>
            </a:extLst>
          </p:cNvPr>
          <p:cNvSpPr txBox="1"/>
          <p:nvPr/>
        </p:nvSpPr>
        <p:spPr>
          <a:xfrm>
            <a:off x="11719034" y="6489708"/>
            <a:ext cx="472966" cy="367863"/>
          </a:xfrm>
          <a:prstGeom prst="rect">
            <a:avLst/>
          </a:prstGeom>
          <a:noFill/>
        </p:spPr>
        <p:txBody>
          <a:bodyPr wrap="square" rtlCol="0">
            <a:spAutoFit/>
          </a:bodyPr>
          <a:lstStyle/>
          <a:p>
            <a:pPr algn="ctr"/>
            <a:r>
              <a:rPr lang="en-US" dirty="0">
                <a:latin typeface="Abadi" panose="020F0502020204030204" pitchFamily="34" charset="0"/>
                <a:cs typeface="Abadi" panose="020F0502020204030204" pitchFamily="34" charset="0"/>
              </a:rPr>
              <a:t>7</a:t>
            </a:r>
          </a:p>
        </p:txBody>
      </p:sp>
      <p:pic>
        <p:nvPicPr>
          <p:cNvPr id="4" name="Picture 3">
            <a:extLst>
              <a:ext uri="{FF2B5EF4-FFF2-40B4-BE49-F238E27FC236}">
                <a16:creationId xmlns:a16="http://schemas.microsoft.com/office/drawing/2014/main" id="{A950EA92-0FFD-D1A9-BF8A-2B9C71F5F572}"/>
              </a:ext>
            </a:extLst>
          </p:cNvPr>
          <p:cNvPicPr>
            <a:picLocks noChangeAspect="1"/>
          </p:cNvPicPr>
          <p:nvPr/>
        </p:nvPicPr>
        <p:blipFill>
          <a:blip r:embed="rId2"/>
          <a:stretch>
            <a:fillRect/>
          </a:stretch>
        </p:blipFill>
        <p:spPr>
          <a:xfrm>
            <a:off x="1143008" y="850752"/>
            <a:ext cx="9905983" cy="6006819"/>
          </a:xfrm>
          <a:prstGeom prst="rect">
            <a:avLst/>
          </a:prstGeom>
        </p:spPr>
      </p:pic>
    </p:spTree>
    <p:extLst>
      <p:ext uri="{BB962C8B-B14F-4D97-AF65-F5344CB8AC3E}">
        <p14:creationId xmlns:p14="http://schemas.microsoft.com/office/powerpoint/2010/main" val="3629732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67287ECE-9763-E423-5400-2C0F322873DA}"/>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8">
            <a:extLst>
              <a:ext uri="{FF2B5EF4-FFF2-40B4-BE49-F238E27FC236}">
                <a16:creationId xmlns:a16="http://schemas.microsoft.com/office/drawing/2014/main" id="{47B00CB5-B824-7038-453C-06ED328104A3}"/>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8" name="Picture 7" descr="A graph of different colored lines&#10;&#10;Description automatically generated">
            <a:extLst>
              <a:ext uri="{FF2B5EF4-FFF2-40B4-BE49-F238E27FC236}">
                <a16:creationId xmlns:a16="http://schemas.microsoft.com/office/drawing/2014/main" id="{EA814E4A-18D3-4C0E-B64E-1E53E88D95CC}"/>
              </a:ext>
            </a:extLst>
          </p:cNvPr>
          <p:cNvPicPr>
            <a:picLocks noChangeAspect="1"/>
          </p:cNvPicPr>
          <p:nvPr/>
        </p:nvPicPr>
        <p:blipFill>
          <a:blip r:embed="rId3"/>
          <a:stretch>
            <a:fillRect/>
          </a:stretch>
        </p:blipFill>
        <p:spPr>
          <a:xfrm>
            <a:off x="185503" y="1082566"/>
            <a:ext cx="8192723" cy="4997669"/>
          </a:xfrm>
          <a:prstGeom prst="rect">
            <a:avLst/>
          </a:prstGeom>
        </p:spPr>
      </p:pic>
      <p:sp>
        <p:nvSpPr>
          <p:cNvPr id="11" name="Title 1">
            <a:extLst>
              <a:ext uri="{FF2B5EF4-FFF2-40B4-BE49-F238E27FC236}">
                <a16:creationId xmlns:a16="http://schemas.microsoft.com/office/drawing/2014/main" id="{D7B12215-A355-D548-8E57-52820ECCD015}"/>
              </a:ext>
            </a:extLst>
          </p:cNvPr>
          <p:cNvSpPr txBox="1">
            <a:spLocks/>
          </p:cNvSpPr>
          <p:nvPr/>
        </p:nvSpPr>
        <p:spPr>
          <a:xfrm>
            <a:off x="342527" y="119232"/>
            <a:ext cx="11218852" cy="731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a:latin typeface="+mn-lt"/>
                <a:cs typeface="Times New Roman" panose="02020603050405020304" pitchFamily="18" charset="0"/>
              </a:rPr>
              <a:t>Correlation Analysis (Grouped by Country)</a:t>
            </a:r>
            <a:endParaRPr lang="en-US" sz="3600" b="1" dirty="0">
              <a:latin typeface="+mn-lt"/>
              <a:cs typeface="Times New Roman" panose="02020603050405020304" pitchFamily="18" charset="0"/>
            </a:endParaRPr>
          </a:p>
        </p:txBody>
      </p:sp>
      <p:sp>
        <p:nvSpPr>
          <p:cNvPr id="12" name="TextBox 11">
            <a:extLst>
              <a:ext uri="{FF2B5EF4-FFF2-40B4-BE49-F238E27FC236}">
                <a16:creationId xmlns:a16="http://schemas.microsoft.com/office/drawing/2014/main" id="{ACB86C4C-14B1-431D-9CE6-6AE32714FB90}"/>
              </a:ext>
            </a:extLst>
          </p:cNvPr>
          <p:cNvSpPr txBox="1"/>
          <p:nvPr/>
        </p:nvSpPr>
        <p:spPr>
          <a:xfrm>
            <a:off x="11719034" y="6489708"/>
            <a:ext cx="472966" cy="367863"/>
          </a:xfrm>
          <a:prstGeom prst="rect">
            <a:avLst/>
          </a:prstGeom>
          <a:noFill/>
        </p:spPr>
        <p:txBody>
          <a:bodyPr wrap="square" rtlCol="0">
            <a:spAutoFit/>
          </a:bodyPr>
          <a:lstStyle/>
          <a:p>
            <a:pPr algn="ctr"/>
            <a:r>
              <a:rPr lang="en-US" dirty="0">
                <a:latin typeface="Abadi" panose="020F0502020204030204" pitchFamily="34" charset="0"/>
                <a:cs typeface="Abadi" panose="020F0502020204030204" pitchFamily="34" charset="0"/>
              </a:rPr>
              <a:t>8</a:t>
            </a:r>
          </a:p>
        </p:txBody>
      </p:sp>
      <p:sp>
        <p:nvSpPr>
          <p:cNvPr id="13" name="Content Placeholder 2">
            <a:extLst>
              <a:ext uri="{FF2B5EF4-FFF2-40B4-BE49-F238E27FC236}">
                <a16:creationId xmlns:a16="http://schemas.microsoft.com/office/drawing/2014/main" id="{BB725D23-9958-AC1C-4319-5D80E295D8D0}"/>
              </a:ext>
            </a:extLst>
          </p:cNvPr>
          <p:cNvSpPr txBox="1">
            <a:spLocks/>
          </p:cNvSpPr>
          <p:nvPr/>
        </p:nvSpPr>
        <p:spPr>
          <a:xfrm>
            <a:off x="8387101" y="1438937"/>
            <a:ext cx="3634210" cy="39801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sz="1800" b="1" kern="100" dirty="0">
                <a:latin typeface="Times New Roman" panose="02020603050405020304" pitchFamily="18" charset="0"/>
                <a:ea typeface="DengXian" panose="02010600030101010101" pitchFamily="2" charset="-122"/>
                <a:cs typeface="Times New Roman" panose="02020603050405020304" pitchFamily="18" charset="0"/>
              </a:rPr>
              <a:t>The share data is more closely correlated with the dominance of the variants, as defined by the area under the curve.</a:t>
            </a:r>
          </a:p>
          <a:p>
            <a:pPr marL="0" indent="0">
              <a:lnSpc>
                <a:spcPct val="120000"/>
              </a:lnSpc>
              <a:buNone/>
            </a:pPr>
            <a:r>
              <a:rPr lang="en-US" sz="1800" b="1" kern="100" dirty="0">
                <a:latin typeface="Times New Roman" panose="02020603050405020304" pitchFamily="18" charset="0"/>
                <a:ea typeface="DengXian" panose="02010600030101010101" pitchFamily="2" charset="-122"/>
                <a:cs typeface="Times New Roman" panose="02020603050405020304" pitchFamily="18" charset="0"/>
              </a:rPr>
              <a:t> </a:t>
            </a:r>
          </a:p>
          <a:p>
            <a:pPr>
              <a:lnSpc>
                <a:spcPct val="120000"/>
              </a:lnSpc>
            </a:pPr>
            <a:r>
              <a:rPr lang="en-US" sz="1800" b="1" kern="100" dirty="0">
                <a:latin typeface="Times New Roman" panose="02020603050405020304" pitchFamily="18" charset="0"/>
                <a:ea typeface="DengXian" panose="02010600030101010101" pitchFamily="2" charset="-122"/>
                <a:cs typeface="Times New Roman" panose="02020603050405020304" pitchFamily="18" charset="0"/>
              </a:rPr>
              <a:t>The data from South Korea shows significantly stronger correlations compared to that from the United Kingdom.</a:t>
            </a:r>
          </a:p>
        </p:txBody>
      </p:sp>
    </p:spTree>
    <p:extLst>
      <p:ext uri="{BB962C8B-B14F-4D97-AF65-F5344CB8AC3E}">
        <p14:creationId xmlns:p14="http://schemas.microsoft.com/office/powerpoint/2010/main" val="3120390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09EDFD46-B56E-17CB-515A-CE6BDCE27075}"/>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8">
            <a:extLst>
              <a:ext uri="{FF2B5EF4-FFF2-40B4-BE49-F238E27FC236}">
                <a16:creationId xmlns:a16="http://schemas.microsoft.com/office/drawing/2014/main" id="{0DC4DC8F-0F39-8BB2-D7E3-7379BD46D0EE}"/>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6" name="Title 1">
            <a:extLst>
              <a:ext uri="{FF2B5EF4-FFF2-40B4-BE49-F238E27FC236}">
                <a16:creationId xmlns:a16="http://schemas.microsoft.com/office/drawing/2014/main" id="{7B24FD8A-9E46-392E-9A6B-985A10604FE4}"/>
              </a:ext>
            </a:extLst>
          </p:cNvPr>
          <p:cNvSpPr>
            <a:spLocks noGrp="1"/>
          </p:cNvSpPr>
          <p:nvPr>
            <p:ph type="title"/>
          </p:nvPr>
        </p:nvSpPr>
        <p:spPr>
          <a:xfrm>
            <a:off x="342527" y="119232"/>
            <a:ext cx="11082218" cy="731520"/>
          </a:xfrm>
        </p:spPr>
        <p:txBody>
          <a:bodyPr>
            <a:normAutofit/>
          </a:bodyPr>
          <a:lstStyle/>
          <a:p>
            <a:r>
              <a:rPr lang="en-US" sz="3600" b="1" dirty="0">
                <a:latin typeface="+mn-lt"/>
                <a:cs typeface="Times New Roman" panose="02020603050405020304" pitchFamily="18" charset="0"/>
              </a:rPr>
              <a:t>Series Compression and Model Fitting</a:t>
            </a:r>
          </a:p>
        </p:txBody>
      </p:sp>
      <p:sp>
        <p:nvSpPr>
          <p:cNvPr id="11" name="TextBox 10">
            <a:extLst>
              <a:ext uri="{FF2B5EF4-FFF2-40B4-BE49-F238E27FC236}">
                <a16:creationId xmlns:a16="http://schemas.microsoft.com/office/drawing/2014/main" id="{27482F32-B22C-1051-E220-8DBF14D97E83}"/>
              </a:ext>
            </a:extLst>
          </p:cNvPr>
          <p:cNvSpPr txBox="1"/>
          <p:nvPr/>
        </p:nvSpPr>
        <p:spPr>
          <a:xfrm>
            <a:off x="11719034" y="6489708"/>
            <a:ext cx="472966" cy="369332"/>
          </a:xfrm>
          <a:prstGeom prst="rect">
            <a:avLst/>
          </a:prstGeom>
          <a:noFill/>
        </p:spPr>
        <p:txBody>
          <a:bodyPr wrap="square" rtlCol="0">
            <a:spAutoFit/>
          </a:bodyPr>
          <a:lstStyle/>
          <a:p>
            <a:pPr algn="ctr"/>
            <a:r>
              <a:rPr lang="en-US" dirty="0">
                <a:latin typeface="Abadi" panose="020F0502020204030204" pitchFamily="34" charset="0"/>
                <a:cs typeface="Abadi" panose="020F0502020204030204" pitchFamily="34" charset="0"/>
              </a:rPr>
              <a:t>9</a:t>
            </a:r>
          </a:p>
        </p:txBody>
      </p:sp>
      <p:sp>
        <p:nvSpPr>
          <p:cNvPr id="12" name="Content Placeholder 2">
            <a:extLst>
              <a:ext uri="{FF2B5EF4-FFF2-40B4-BE49-F238E27FC236}">
                <a16:creationId xmlns:a16="http://schemas.microsoft.com/office/drawing/2014/main" id="{2EA8A9A6-74F4-3D8A-1F3A-882D388BDBAB}"/>
              </a:ext>
            </a:extLst>
          </p:cNvPr>
          <p:cNvSpPr txBox="1">
            <a:spLocks/>
          </p:cNvSpPr>
          <p:nvPr/>
        </p:nvSpPr>
        <p:spPr>
          <a:xfrm>
            <a:off x="8387101" y="1438937"/>
            <a:ext cx="3634210" cy="39801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sz="1800" b="1" kern="100" dirty="0">
                <a:latin typeface="Times New Roman" panose="02020603050405020304" pitchFamily="18" charset="0"/>
                <a:ea typeface="DengXian" panose="02010600030101010101" pitchFamily="2" charset="-122"/>
                <a:cs typeface="Times New Roman" panose="02020603050405020304" pitchFamily="18" charset="0"/>
              </a:rPr>
              <a:t>From the aspects of time series, fitted shares, the denoised shares,  showed better regression results in South Korea. </a:t>
            </a:r>
          </a:p>
          <a:p>
            <a:pPr>
              <a:lnSpc>
                <a:spcPct val="120000"/>
              </a:lnSpc>
            </a:pPr>
            <a:endParaRPr lang="en-US" sz="1800" b="1" kern="100" dirty="0">
              <a:latin typeface="Times New Roman" panose="02020603050405020304" pitchFamily="18" charset="0"/>
              <a:ea typeface="DengXian" panose="02010600030101010101" pitchFamily="2" charset="-122"/>
              <a:cs typeface="Times New Roman" panose="02020603050405020304" pitchFamily="18" charset="0"/>
            </a:endParaRPr>
          </a:p>
          <a:p>
            <a:pPr>
              <a:lnSpc>
                <a:spcPct val="120000"/>
              </a:lnSpc>
            </a:pPr>
            <a:r>
              <a:rPr lang="en-US" sz="1800" b="1" kern="100" dirty="0">
                <a:latin typeface="Times New Roman" panose="02020603050405020304" pitchFamily="18" charset="0"/>
                <a:ea typeface="DengXian" panose="02010600030101010101" pitchFamily="2" charset="-122"/>
                <a:cs typeface="Times New Roman" panose="02020603050405020304" pitchFamily="18" charset="0"/>
              </a:rPr>
              <a:t>In the United Kingdom, the model can explain at most 24% of the variance.</a:t>
            </a:r>
          </a:p>
        </p:txBody>
      </p:sp>
      <p:pic>
        <p:nvPicPr>
          <p:cNvPr id="3" name="Picture 2">
            <a:extLst>
              <a:ext uri="{FF2B5EF4-FFF2-40B4-BE49-F238E27FC236}">
                <a16:creationId xmlns:a16="http://schemas.microsoft.com/office/drawing/2014/main" id="{89C4B122-A979-F013-BAED-42474BC7BD9E}"/>
              </a:ext>
            </a:extLst>
          </p:cNvPr>
          <p:cNvPicPr>
            <a:picLocks noChangeAspect="1"/>
          </p:cNvPicPr>
          <p:nvPr/>
        </p:nvPicPr>
        <p:blipFill>
          <a:blip r:embed="rId2"/>
          <a:stretch>
            <a:fillRect/>
          </a:stretch>
        </p:blipFill>
        <p:spPr>
          <a:xfrm>
            <a:off x="1162025" y="850752"/>
            <a:ext cx="6634655" cy="5901232"/>
          </a:xfrm>
          <a:prstGeom prst="rect">
            <a:avLst/>
          </a:prstGeom>
        </p:spPr>
      </p:pic>
    </p:spTree>
    <p:extLst>
      <p:ext uri="{BB962C8B-B14F-4D97-AF65-F5344CB8AC3E}">
        <p14:creationId xmlns:p14="http://schemas.microsoft.com/office/powerpoint/2010/main" val="4020290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27731F-6ED3-3F4F-0A13-7BAE6F37E666}"/>
              </a:ext>
            </a:extLst>
          </p:cNvPr>
          <p:cNvSpPr txBox="1">
            <a:spLocks/>
          </p:cNvSpPr>
          <p:nvPr/>
        </p:nvSpPr>
        <p:spPr>
          <a:xfrm>
            <a:off x="520262" y="1525619"/>
            <a:ext cx="10980683" cy="132556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latin typeface="Times New Roman" panose="02020603050405020304" pitchFamily="18" charset="0"/>
                <a:cs typeface="Times New Roman" panose="02020603050405020304" pitchFamily="18" charset="0"/>
              </a:rPr>
              <a:t>All countries GISAID Data</a:t>
            </a:r>
            <a:endParaRPr lang="en-US" altLang="ko-KR"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1185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752EFF8C-2548-BBC3-3CDF-B3C8485B3B1D}"/>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8">
            <a:extLst>
              <a:ext uri="{FF2B5EF4-FFF2-40B4-BE49-F238E27FC236}">
                <a16:creationId xmlns:a16="http://schemas.microsoft.com/office/drawing/2014/main" id="{9E72A0A3-8BF8-2DF6-7031-0E498664C289}"/>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6" name="Title 1">
            <a:extLst>
              <a:ext uri="{FF2B5EF4-FFF2-40B4-BE49-F238E27FC236}">
                <a16:creationId xmlns:a16="http://schemas.microsoft.com/office/drawing/2014/main" id="{50FA5029-EB17-A720-7F46-FC86E59D416C}"/>
              </a:ext>
            </a:extLst>
          </p:cNvPr>
          <p:cNvSpPr>
            <a:spLocks noGrp="1"/>
          </p:cNvSpPr>
          <p:nvPr>
            <p:ph type="title"/>
          </p:nvPr>
        </p:nvSpPr>
        <p:spPr>
          <a:xfrm>
            <a:off x="342527" y="119232"/>
            <a:ext cx="11082218" cy="731520"/>
          </a:xfrm>
        </p:spPr>
        <p:txBody>
          <a:bodyPr>
            <a:normAutofit/>
          </a:bodyPr>
          <a:lstStyle/>
          <a:p>
            <a:r>
              <a:rPr lang="en-US" sz="3600" b="1" dirty="0">
                <a:latin typeface="+mn-lt"/>
                <a:cs typeface="Times New Roman" panose="02020603050405020304" pitchFamily="18" charset="0"/>
              </a:rPr>
              <a:t>Data Processing</a:t>
            </a:r>
          </a:p>
        </p:txBody>
      </p:sp>
      <p:sp>
        <p:nvSpPr>
          <p:cNvPr id="7" name="Content Placeholder 2">
            <a:extLst>
              <a:ext uri="{FF2B5EF4-FFF2-40B4-BE49-F238E27FC236}">
                <a16:creationId xmlns:a16="http://schemas.microsoft.com/office/drawing/2014/main" id="{17837A5F-8EC5-7CE2-BDC4-C5AC856C3CBD}"/>
              </a:ext>
            </a:extLst>
          </p:cNvPr>
          <p:cNvSpPr txBox="1">
            <a:spLocks/>
          </p:cNvSpPr>
          <p:nvPr/>
        </p:nvSpPr>
        <p:spPr>
          <a:xfrm>
            <a:off x="342526" y="1012291"/>
            <a:ext cx="11678785" cy="57152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2000" b="1" dirty="0">
                <a:latin typeface="Times New Roman" panose="02020603050405020304" pitchFamily="18" charset="0"/>
                <a:cs typeface="Times New Roman" panose="02020603050405020304" pitchFamily="18" charset="0"/>
              </a:rPr>
              <a:t>Data Description</a:t>
            </a:r>
          </a:p>
          <a:p>
            <a:pPr lvl="1">
              <a:lnSpc>
                <a:spcPct val="120000"/>
              </a:lnSpc>
            </a:pP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The GISAID dataset includes data from 222 countries, covering 666 distinct lineages, spanning from January 2020 to August 2024, with a weekly resolution (more data from 2021).</a:t>
            </a:r>
          </a:p>
          <a:p>
            <a:pPr lvl="1">
              <a:lnSpc>
                <a:spcPct val="120000"/>
              </a:lnSpc>
            </a:pPr>
            <a:r>
              <a:rPr lang="en-US" sz="2000" dirty="0">
                <a:latin typeface="Times New Roman" panose="02020603050405020304" pitchFamily="18" charset="0"/>
                <a:ea typeface="DengXian" panose="02010600030101010101" pitchFamily="2" charset="-122"/>
                <a:cs typeface="Times New Roman" panose="02020603050405020304" pitchFamily="18" charset="0"/>
              </a:rPr>
              <a:t>South Korea contains 327 different lineages, while the United Kingdom has 565.</a:t>
            </a:r>
          </a:p>
          <a:p>
            <a:pPr lvl="1">
              <a:lnSpc>
                <a:spcPct val="120000"/>
              </a:lnSpc>
            </a:pPr>
            <a:endParaRPr lang="en-US" sz="2000" kern="100" dirty="0">
              <a:latin typeface="Times New Roman" panose="02020603050405020304" pitchFamily="18" charset="0"/>
              <a:ea typeface="DengXian" panose="02010600030101010101" pitchFamily="2" charset="-122"/>
              <a:cs typeface="Times New Roman" panose="02020603050405020304" pitchFamily="18" charset="0"/>
            </a:endParaRPr>
          </a:p>
          <a:p>
            <a:pPr>
              <a:lnSpc>
                <a:spcPct val="120000"/>
              </a:lnSpc>
              <a:buFont typeface="Wingdings" pitchFamily="2" charset="2"/>
              <a:buChar char="v"/>
            </a:pPr>
            <a:r>
              <a:rPr lang="en-US" sz="2000" b="1" dirty="0">
                <a:latin typeface="Times New Roman" panose="02020603050405020304" pitchFamily="18" charset="0"/>
                <a:cs typeface="Times New Roman" panose="02020603050405020304" pitchFamily="18" charset="0"/>
              </a:rPr>
              <a:t>Data Processing</a:t>
            </a:r>
          </a:p>
          <a:p>
            <a:pPr lvl="1">
              <a:lnSpc>
                <a:spcPct val="120000"/>
              </a:lnSpc>
            </a:pPr>
            <a:r>
              <a:rPr lang="en-US" sz="2000" dirty="0">
                <a:latin typeface="Times New Roman" panose="02020603050405020304" pitchFamily="18" charset="0"/>
                <a:ea typeface="DengXian" panose="02010600030101010101" pitchFamily="2" charset="-122"/>
                <a:cs typeface="Times New Roman" panose="02020603050405020304" pitchFamily="18" charset="0"/>
              </a:rPr>
              <a:t>Exclude the variants that are still ongoing as of August 2024.</a:t>
            </a:r>
          </a:p>
          <a:p>
            <a:pPr lvl="1">
              <a:lnSpc>
                <a:spcPct val="120000"/>
              </a:lnSpc>
            </a:pPr>
            <a:r>
              <a:rPr lang="en-US" sz="2000" kern="0" dirty="0">
                <a:latin typeface="Times New Roman" panose="02020603050405020304" pitchFamily="18" charset="0"/>
                <a:ea typeface="DengXian" panose="02010600030101010101" pitchFamily="2" charset="-122"/>
                <a:cs typeface="Times New Roman" panose="02020603050405020304" pitchFamily="18" charset="0"/>
              </a:rPr>
              <a:t>Select the top 64 countries with over 3,000 infection cases as of August 2024.</a:t>
            </a:r>
          </a:p>
          <a:p>
            <a:pPr lvl="1">
              <a:lnSpc>
                <a:spcPct val="120000"/>
              </a:lnSpc>
            </a:pPr>
            <a:r>
              <a:rPr lang="en-US" sz="2000" kern="0" dirty="0">
                <a:effectLst/>
                <a:latin typeface="Times New Roman" panose="02020603050405020304" pitchFamily="18" charset="0"/>
                <a:ea typeface="DengXian" panose="02010600030101010101" pitchFamily="2" charset="-122"/>
                <a:cs typeface="Times New Roman" panose="02020603050405020304" pitchFamily="18" charset="0"/>
              </a:rPr>
              <a:t>Exclude variants with a duration of less than 60 days.</a:t>
            </a:r>
          </a:p>
          <a:p>
            <a:pPr lvl="1">
              <a:lnSpc>
                <a:spcPct val="120000"/>
              </a:lnSpc>
            </a:pPr>
            <a:r>
              <a:rPr lang="en-US" sz="2000" kern="0" dirty="0">
                <a:latin typeface="Times New Roman" panose="02020603050405020304" pitchFamily="18" charset="0"/>
                <a:ea typeface="DengXian" panose="02010600030101010101" pitchFamily="2" charset="-122"/>
                <a:cs typeface="Times New Roman" panose="02020603050405020304" pitchFamily="18" charset="0"/>
              </a:rPr>
              <a:t>Dominance here is defined based on cumulative weekly shares.</a:t>
            </a:r>
            <a:endParaRPr lang="en-US" sz="2000" kern="100" dirty="0">
              <a:effectLst/>
              <a:latin typeface="Times New Roman" panose="02020603050405020304" pitchFamily="18"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40940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red and white chart with numbers&#10;&#10;Description automatically generated">
            <a:extLst>
              <a:ext uri="{FF2B5EF4-FFF2-40B4-BE49-F238E27FC236}">
                <a16:creationId xmlns:a16="http://schemas.microsoft.com/office/drawing/2014/main" id="{9106E4B1-C6B7-FA2E-B6D1-516831EE876E}"/>
              </a:ext>
            </a:extLst>
          </p:cNvPr>
          <p:cNvPicPr>
            <a:picLocks noChangeAspect="1"/>
          </p:cNvPicPr>
          <p:nvPr/>
        </p:nvPicPr>
        <p:blipFill>
          <a:blip r:embed="rId2"/>
          <a:stretch>
            <a:fillRect/>
          </a:stretch>
        </p:blipFill>
        <p:spPr>
          <a:xfrm>
            <a:off x="243774" y="1294295"/>
            <a:ext cx="7186544" cy="3914849"/>
          </a:xfrm>
          <a:prstGeom prst="rect">
            <a:avLst/>
          </a:prstGeom>
        </p:spPr>
      </p:pic>
      <p:sp>
        <p:nvSpPr>
          <p:cNvPr id="6" name="직사각형 3">
            <a:extLst>
              <a:ext uri="{FF2B5EF4-FFF2-40B4-BE49-F238E27FC236}">
                <a16:creationId xmlns:a16="http://schemas.microsoft.com/office/drawing/2014/main" id="{62D30B58-CF2E-ECE0-2A34-D993C3288D00}"/>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8">
            <a:extLst>
              <a:ext uri="{FF2B5EF4-FFF2-40B4-BE49-F238E27FC236}">
                <a16:creationId xmlns:a16="http://schemas.microsoft.com/office/drawing/2014/main" id="{37D435E7-0ABF-C7D9-2741-14769E61C95D}"/>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8" name="Title 1">
            <a:extLst>
              <a:ext uri="{FF2B5EF4-FFF2-40B4-BE49-F238E27FC236}">
                <a16:creationId xmlns:a16="http://schemas.microsoft.com/office/drawing/2014/main" id="{5D29E425-7B33-AF79-36C5-CEE218DBCA4A}"/>
              </a:ext>
            </a:extLst>
          </p:cNvPr>
          <p:cNvSpPr>
            <a:spLocks noGrp="1"/>
          </p:cNvSpPr>
          <p:nvPr>
            <p:ph type="title"/>
          </p:nvPr>
        </p:nvSpPr>
        <p:spPr>
          <a:xfrm>
            <a:off x="342527" y="119232"/>
            <a:ext cx="11082218" cy="731520"/>
          </a:xfrm>
        </p:spPr>
        <p:txBody>
          <a:bodyPr>
            <a:normAutofit/>
          </a:bodyPr>
          <a:lstStyle/>
          <a:p>
            <a:r>
              <a:rPr lang="en-US" sz="3600" b="1" dirty="0">
                <a:latin typeface="+mn-lt"/>
                <a:cs typeface="Times New Roman" panose="02020603050405020304" pitchFamily="18" charset="0"/>
              </a:rPr>
              <a:t>Data Exploration</a:t>
            </a:r>
          </a:p>
        </p:txBody>
      </p:sp>
      <p:sp>
        <p:nvSpPr>
          <p:cNvPr id="10" name="TextBox 9">
            <a:extLst>
              <a:ext uri="{FF2B5EF4-FFF2-40B4-BE49-F238E27FC236}">
                <a16:creationId xmlns:a16="http://schemas.microsoft.com/office/drawing/2014/main" id="{5162825D-32D1-C015-1462-6765B8FAE735}"/>
              </a:ext>
            </a:extLst>
          </p:cNvPr>
          <p:cNvSpPr txBox="1"/>
          <p:nvPr/>
        </p:nvSpPr>
        <p:spPr>
          <a:xfrm>
            <a:off x="522466" y="963759"/>
            <a:ext cx="662916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Pearson Correlation between mean share and Dominance</a:t>
            </a:r>
          </a:p>
        </p:txBody>
      </p:sp>
      <p:sp>
        <p:nvSpPr>
          <p:cNvPr id="11" name="TextBox 10">
            <a:extLst>
              <a:ext uri="{FF2B5EF4-FFF2-40B4-BE49-F238E27FC236}">
                <a16:creationId xmlns:a16="http://schemas.microsoft.com/office/drawing/2014/main" id="{3EC0A911-C80F-7F76-4F80-34C9777738AF}"/>
              </a:ext>
            </a:extLst>
          </p:cNvPr>
          <p:cNvSpPr txBox="1"/>
          <p:nvPr/>
        </p:nvSpPr>
        <p:spPr>
          <a:xfrm>
            <a:off x="7504043" y="1376016"/>
            <a:ext cx="4273826" cy="3416320"/>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0E0E0E"/>
                </a:solidFill>
                <a:effectLst/>
                <a:latin typeface="Abadi" panose="020B0604020104020204" pitchFamily="34" charset="0"/>
              </a:rPr>
              <a:t>Overall, all countries exhibit a positive relationship between the mean share at the initial stage and future dominance.</a:t>
            </a:r>
          </a:p>
          <a:p>
            <a:pPr marL="285750" indent="-285750">
              <a:buFont typeface="Arial" panose="020B0604020202020204" pitchFamily="34" charset="0"/>
              <a:buChar char="•"/>
            </a:pPr>
            <a:endParaRPr lang="en-US" dirty="0">
              <a:solidFill>
                <a:srgbClr val="0E0E0E"/>
              </a:solidFill>
              <a:effectLst/>
              <a:latin typeface="Abadi" panose="020B0604020104020204" pitchFamily="34" charset="0"/>
            </a:endParaRPr>
          </a:p>
          <a:p>
            <a:pPr marL="285750" indent="-285750">
              <a:buFont typeface="Arial" panose="020B0604020202020204" pitchFamily="34" charset="0"/>
              <a:buChar char="•"/>
            </a:pPr>
            <a:r>
              <a:rPr lang="en-US" dirty="0">
                <a:solidFill>
                  <a:srgbClr val="0E0E0E"/>
                </a:solidFill>
                <a:effectLst/>
                <a:latin typeface="Abadi" panose="020B0604020104020204" pitchFamily="34" charset="0"/>
              </a:rPr>
              <a:t>Comparatively, Brazil, India, and Japan show weaker positive correlations.</a:t>
            </a:r>
          </a:p>
          <a:p>
            <a:pPr marL="285750" indent="-285750">
              <a:buFont typeface="Arial" panose="020B0604020202020204" pitchFamily="34" charset="0"/>
              <a:buChar char="•"/>
            </a:pPr>
            <a:endParaRPr lang="en-US" dirty="0">
              <a:solidFill>
                <a:srgbClr val="0E0E0E"/>
              </a:solidFill>
              <a:effectLst/>
              <a:latin typeface="Abadi" panose="020B0604020104020204" pitchFamily="34" charset="0"/>
            </a:endParaRPr>
          </a:p>
          <a:p>
            <a:pPr marL="285750" indent="-285750">
              <a:buFont typeface="Arial" panose="020B0604020202020204" pitchFamily="34" charset="0"/>
              <a:buChar char="•"/>
            </a:pPr>
            <a:r>
              <a:rPr lang="en-US" dirty="0">
                <a:solidFill>
                  <a:srgbClr val="0E0E0E"/>
                </a:solidFill>
                <a:latin typeface="Abadi" panose="020B0604020104020204" pitchFamily="34" charset="0"/>
              </a:rPr>
              <a:t>Except for India, all other major countries show increasing correlations as the input time increases, particularly in Brazil and China.</a:t>
            </a:r>
            <a:endParaRPr lang="en-US" dirty="0">
              <a:latin typeface="Abadi" panose="020B0604020104020204" pitchFamily="34" charset="0"/>
            </a:endParaRPr>
          </a:p>
        </p:txBody>
      </p:sp>
    </p:spTree>
    <p:extLst>
      <p:ext uri="{BB962C8B-B14F-4D97-AF65-F5344CB8AC3E}">
        <p14:creationId xmlns:p14="http://schemas.microsoft.com/office/powerpoint/2010/main" val="138467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red and white table with numbers&#10;&#10;Description automatically generated">
            <a:extLst>
              <a:ext uri="{FF2B5EF4-FFF2-40B4-BE49-F238E27FC236}">
                <a16:creationId xmlns:a16="http://schemas.microsoft.com/office/drawing/2014/main" id="{69C11E21-150E-148B-22A8-DD14C8661064}"/>
              </a:ext>
            </a:extLst>
          </p:cNvPr>
          <p:cNvPicPr>
            <a:picLocks noChangeAspect="1"/>
          </p:cNvPicPr>
          <p:nvPr/>
        </p:nvPicPr>
        <p:blipFill>
          <a:blip r:embed="rId2"/>
          <a:stretch>
            <a:fillRect/>
          </a:stretch>
        </p:blipFill>
        <p:spPr>
          <a:xfrm>
            <a:off x="1684157" y="850752"/>
            <a:ext cx="8823686" cy="3917007"/>
          </a:xfrm>
          <a:prstGeom prst="rect">
            <a:avLst/>
          </a:prstGeom>
        </p:spPr>
      </p:pic>
      <p:sp>
        <p:nvSpPr>
          <p:cNvPr id="6" name="직사각형 3">
            <a:extLst>
              <a:ext uri="{FF2B5EF4-FFF2-40B4-BE49-F238E27FC236}">
                <a16:creationId xmlns:a16="http://schemas.microsoft.com/office/drawing/2014/main" id="{6CE6F6C8-6634-861D-CF11-C8FFE200F142}"/>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8">
            <a:extLst>
              <a:ext uri="{FF2B5EF4-FFF2-40B4-BE49-F238E27FC236}">
                <a16:creationId xmlns:a16="http://schemas.microsoft.com/office/drawing/2014/main" id="{A6C373C1-A7AC-9A86-9057-82307C61AE2A}"/>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8" name="Title 1">
            <a:extLst>
              <a:ext uri="{FF2B5EF4-FFF2-40B4-BE49-F238E27FC236}">
                <a16:creationId xmlns:a16="http://schemas.microsoft.com/office/drawing/2014/main" id="{D7DD341A-0C23-1D4F-CA74-03D22FD71143}"/>
              </a:ext>
            </a:extLst>
          </p:cNvPr>
          <p:cNvSpPr>
            <a:spLocks noGrp="1"/>
          </p:cNvSpPr>
          <p:nvPr>
            <p:ph type="title"/>
          </p:nvPr>
        </p:nvSpPr>
        <p:spPr>
          <a:xfrm>
            <a:off x="342527" y="119232"/>
            <a:ext cx="11082218" cy="731520"/>
          </a:xfrm>
        </p:spPr>
        <p:txBody>
          <a:bodyPr>
            <a:normAutofit/>
          </a:bodyPr>
          <a:lstStyle/>
          <a:p>
            <a:r>
              <a:rPr lang="en-US" sz="3600" b="1" dirty="0">
                <a:latin typeface="+mn-lt"/>
                <a:cs typeface="Times New Roman" panose="02020603050405020304" pitchFamily="18" charset="0"/>
              </a:rPr>
              <a:t>Model Exploration (R Squared)</a:t>
            </a:r>
          </a:p>
        </p:txBody>
      </p:sp>
      <p:sp>
        <p:nvSpPr>
          <p:cNvPr id="10" name="TextBox 9">
            <a:extLst>
              <a:ext uri="{FF2B5EF4-FFF2-40B4-BE49-F238E27FC236}">
                <a16:creationId xmlns:a16="http://schemas.microsoft.com/office/drawing/2014/main" id="{3EB2FD25-AE5D-9DBC-D540-37896224D91B}"/>
              </a:ext>
            </a:extLst>
          </p:cNvPr>
          <p:cNvSpPr txBox="1"/>
          <p:nvPr/>
        </p:nvSpPr>
        <p:spPr>
          <a:xfrm>
            <a:off x="1684157" y="4707443"/>
            <a:ext cx="8160027" cy="1200329"/>
          </a:xfrm>
          <a:prstGeom prst="rect">
            <a:avLst/>
          </a:prstGeom>
          <a:noFill/>
        </p:spPr>
        <p:txBody>
          <a:bodyPr wrap="square" rtlCol="0">
            <a:spAutoFit/>
          </a:bodyPr>
          <a:lstStyle/>
          <a:p>
            <a:endParaRPr lang="en-US" dirty="0">
              <a:solidFill>
                <a:srgbClr val="0E0E0E"/>
              </a:solidFill>
              <a:effectLst/>
              <a:latin typeface="Abadi" panose="020B0604020104020204" pitchFamily="34" charset="0"/>
            </a:endParaRPr>
          </a:p>
          <a:p>
            <a:pPr marL="285750" indent="-285750">
              <a:buFont typeface="Arial" panose="020B0604020202020204" pitchFamily="34" charset="0"/>
              <a:buChar char="•"/>
            </a:pPr>
            <a:r>
              <a:rPr lang="en-US" dirty="0">
                <a:solidFill>
                  <a:srgbClr val="0E0E0E"/>
                </a:solidFill>
                <a:effectLst/>
                <a:latin typeface="Abadi" panose="020B0604020104020204" pitchFamily="34" charset="0"/>
              </a:rPr>
              <a:t>Overall, the model analysis results are consistent with the correlation analysis.</a:t>
            </a:r>
          </a:p>
          <a:p>
            <a:pPr marL="285750" indent="-285750">
              <a:buFont typeface="Arial" panose="020B0604020202020204" pitchFamily="34" charset="0"/>
              <a:buChar char="•"/>
            </a:pPr>
            <a:endParaRPr lang="en-US" dirty="0">
              <a:solidFill>
                <a:srgbClr val="0E0E0E"/>
              </a:solidFill>
              <a:effectLst/>
              <a:latin typeface="Abadi" panose="020B0604020104020204" pitchFamily="34" charset="0"/>
            </a:endParaRPr>
          </a:p>
          <a:p>
            <a:pPr marL="285750" indent="-285750">
              <a:buFont typeface="Arial" panose="020B0604020202020204" pitchFamily="34" charset="0"/>
              <a:buChar char="•"/>
            </a:pPr>
            <a:r>
              <a:rPr lang="en-US" dirty="0">
                <a:solidFill>
                  <a:srgbClr val="0E0E0E"/>
                </a:solidFill>
                <a:effectLst/>
                <a:latin typeface="Abadi" panose="020B0604020104020204" pitchFamily="34" charset="0"/>
              </a:rPr>
              <a:t>In this context, linear regression outperforms SVM in terms of R </a:t>
            </a:r>
            <a:r>
              <a:rPr lang="en-US" dirty="0" err="1">
                <a:solidFill>
                  <a:srgbClr val="0E0E0E"/>
                </a:solidFill>
                <a:effectLst/>
                <a:latin typeface="Abadi" panose="020B0604020104020204" pitchFamily="34" charset="0"/>
              </a:rPr>
              <a:t>squrared</a:t>
            </a:r>
            <a:r>
              <a:rPr lang="en-US" dirty="0">
                <a:solidFill>
                  <a:srgbClr val="0E0E0E"/>
                </a:solidFill>
                <a:effectLst/>
                <a:latin typeface="Abadi" panose="020B0604020104020204" pitchFamily="34" charset="0"/>
              </a:rPr>
              <a:t>.</a:t>
            </a:r>
          </a:p>
        </p:txBody>
      </p:sp>
    </p:spTree>
    <p:extLst>
      <p:ext uri="{BB962C8B-B14F-4D97-AF65-F5344CB8AC3E}">
        <p14:creationId xmlns:p14="http://schemas.microsoft.com/office/powerpoint/2010/main" val="1429482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83105C56-8CE0-2589-2EA2-28DB0DC77FED}"/>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8">
            <a:extLst>
              <a:ext uri="{FF2B5EF4-FFF2-40B4-BE49-F238E27FC236}">
                <a16:creationId xmlns:a16="http://schemas.microsoft.com/office/drawing/2014/main" id="{888CC31B-29F5-B7F3-7569-6E77DB963953}"/>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6" name="Title 1">
            <a:extLst>
              <a:ext uri="{FF2B5EF4-FFF2-40B4-BE49-F238E27FC236}">
                <a16:creationId xmlns:a16="http://schemas.microsoft.com/office/drawing/2014/main" id="{D0555A62-9379-3710-14B0-66C39AE7DD68}"/>
              </a:ext>
            </a:extLst>
          </p:cNvPr>
          <p:cNvSpPr>
            <a:spLocks noGrp="1"/>
          </p:cNvSpPr>
          <p:nvPr>
            <p:ph type="title"/>
          </p:nvPr>
        </p:nvSpPr>
        <p:spPr>
          <a:xfrm>
            <a:off x="342527" y="119232"/>
            <a:ext cx="11082218" cy="731520"/>
          </a:xfrm>
        </p:spPr>
        <p:txBody>
          <a:bodyPr>
            <a:normAutofit/>
          </a:bodyPr>
          <a:lstStyle/>
          <a:p>
            <a:r>
              <a:rPr lang="en-US" sz="3600" b="1" dirty="0">
                <a:latin typeface="+mn-lt"/>
                <a:cs typeface="Times New Roman" panose="02020603050405020304" pitchFamily="18" charset="0"/>
              </a:rPr>
              <a:t>Discussion</a:t>
            </a:r>
          </a:p>
        </p:txBody>
      </p:sp>
      <p:sp>
        <p:nvSpPr>
          <p:cNvPr id="7" name="Content Placeholder 2">
            <a:extLst>
              <a:ext uri="{FF2B5EF4-FFF2-40B4-BE49-F238E27FC236}">
                <a16:creationId xmlns:a16="http://schemas.microsoft.com/office/drawing/2014/main" id="{D3B6DADA-6FBC-6AB3-B557-385CF2495B7C}"/>
              </a:ext>
            </a:extLst>
          </p:cNvPr>
          <p:cNvSpPr txBox="1">
            <a:spLocks/>
          </p:cNvSpPr>
          <p:nvPr/>
        </p:nvSpPr>
        <p:spPr>
          <a:xfrm>
            <a:off x="342526" y="1012291"/>
            <a:ext cx="11678785" cy="57152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1900" b="1" dirty="0">
                <a:latin typeface="Arial" panose="020B0604020202020204" pitchFamily="34" charset="0"/>
                <a:cs typeface="Times New Roman" panose="02020603050405020304" pitchFamily="18" charset="0"/>
              </a:rPr>
              <a:t>Limitations</a:t>
            </a:r>
          </a:p>
          <a:p>
            <a:pPr lvl="1">
              <a:lnSpc>
                <a:spcPct val="120000"/>
              </a:lnSpc>
            </a:pPr>
            <a:r>
              <a:rPr lang="en-US" sz="1800" dirty="0">
                <a:effectLst/>
                <a:latin typeface="Times New Roman" panose="02020603050405020304" pitchFamily="18" charset="0"/>
                <a:ea typeface="DengXian" panose="02010600030101010101" pitchFamily="2" charset="-122"/>
              </a:rPr>
              <a:t>The current evaluation of dominance is based on the sum of the monthly share for each variant, which can be interpreted as the area under the curve in boxplots. However, this approach does not fully align with the definition of dominance. </a:t>
            </a:r>
          </a:p>
          <a:p>
            <a:pPr lvl="1">
              <a:lnSpc>
                <a:spcPct val="120000"/>
              </a:lnSpc>
            </a:pPr>
            <a:r>
              <a:rPr lang="en-US" sz="2000" dirty="0">
                <a:latin typeface="Times New Roman" panose="02020603050405020304" pitchFamily="18" charset="0"/>
                <a:ea typeface="DengXian" panose="02010600030101010101" pitchFamily="2" charset="-122"/>
              </a:rPr>
              <a:t>Even after applying PAA compression, correlations between inputs still persist.</a:t>
            </a:r>
            <a:endParaRPr lang="en-US" sz="2000" kern="100" dirty="0">
              <a:latin typeface="Times New Roman" panose="02020603050405020304" pitchFamily="18" charset="0"/>
              <a:ea typeface="DengXian" panose="02010600030101010101" pitchFamily="2" charset="-122"/>
              <a:cs typeface="Times New Roman" panose="02020603050405020304" pitchFamily="18" charset="0"/>
            </a:endParaRPr>
          </a:p>
          <a:p>
            <a:pPr marL="457200" lvl="1" indent="0">
              <a:lnSpc>
                <a:spcPct val="120000"/>
              </a:lnSpc>
              <a:buNone/>
            </a:pPr>
            <a:endParaRPr lang="en-US" sz="1600" kern="100" dirty="0">
              <a:latin typeface="Arial" panose="020B0604020202020204" pitchFamily="34" charset="0"/>
              <a:ea typeface="DengXian" panose="02010600030101010101" pitchFamily="2" charset="-122"/>
              <a:cs typeface="Arial" panose="020B0604020202020204" pitchFamily="34" charset="0"/>
            </a:endParaRPr>
          </a:p>
          <a:p>
            <a:pPr>
              <a:lnSpc>
                <a:spcPct val="120000"/>
              </a:lnSpc>
              <a:buFont typeface="Wingdings" pitchFamily="2" charset="2"/>
              <a:buChar char="v"/>
            </a:pPr>
            <a:r>
              <a:rPr lang="en-US" sz="1900" b="1" dirty="0">
                <a:latin typeface="Arial" panose="020B0604020202020204" pitchFamily="34" charset="0"/>
                <a:cs typeface="Times New Roman" panose="02020603050405020304" pitchFamily="18" charset="0"/>
              </a:rPr>
              <a:t>Key findings</a:t>
            </a:r>
          </a:p>
          <a:p>
            <a:pPr lvl="1">
              <a:lnSpc>
                <a:spcPct val="120000"/>
              </a:lnSpc>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Among the three types of models differentiated by the input data—raw daily shares, fitted daily shares, fitted growth rates, and summary statistics—regardless of the number of days of data used, the model utilizing raw daily shares appears to yield the best regression results. </a:t>
            </a:r>
            <a:endParaRPr lang="en-US" sz="1800" dirty="0">
              <a:effectLst/>
              <a:latin typeface="Times New Roman" panose="02020603050405020304" pitchFamily="18" charset="0"/>
              <a:ea typeface="DengXian" panose="02010600030101010101" pitchFamily="2" charset="-122"/>
              <a:cs typeface="Times New Roman" panose="02020603050405020304" pitchFamily="18" charset="0"/>
            </a:endParaRPr>
          </a:p>
          <a:p>
            <a:pPr lvl="1">
              <a:lnSpc>
                <a:spcPct val="120000"/>
              </a:lnSpc>
            </a:pPr>
            <a:r>
              <a:rPr lang="en-US" sz="1800" kern="100" dirty="0">
                <a:latin typeface="Times New Roman" panose="02020603050405020304" pitchFamily="18" charset="0"/>
                <a:ea typeface="DengXian" panose="02010600030101010101" pitchFamily="2" charset="-122"/>
                <a:cs typeface="Times New Roman" panose="02020603050405020304" pitchFamily="18" charset="0"/>
              </a:rPr>
              <a:t>Thirty days of raw or smoothed frequency inputs are sufficient for predicting dominance in South Korea, but this approach does not perform well in the United Kingdom. </a:t>
            </a:r>
          </a:p>
          <a:p>
            <a:pPr lvl="1">
              <a:lnSpc>
                <a:spcPct val="120000"/>
              </a:lnSpc>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For example, in South Korea, the 30-day smoothed and compressed share for the classified variant “B.1.497” is 0.81, 0.96, 0.43, 0.83, 0.87, 0.98. This results in a predicted dominance that is 6.5 times greater than that of “B.1.1,” which has shares of 0.18, 0.20, 0.41, 0, 0.20, and 0.</a:t>
            </a:r>
          </a:p>
        </p:txBody>
      </p:sp>
      <p:sp>
        <p:nvSpPr>
          <p:cNvPr id="8" name="TextBox 7">
            <a:extLst>
              <a:ext uri="{FF2B5EF4-FFF2-40B4-BE49-F238E27FC236}">
                <a16:creationId xmlns:a16="http://schemas.microsoft.com/office/drawing/2014/main" id="{C181A47B-7879-472B-87A2-FD582552D16F}"/>
              </a:ext>
            </a:extLst>
          </p:cNvPr>
          <p:cNvSpPr txBox="1"/>
          <p:nvPr/>
        </p:nvSpPr>
        <p:spPr>
          <a:xfrm>
            <a:off x="11719034" y="6489708"/>
            <a:ext cx="472966" cy="369332"/>
          </a:xfrm>
          <a:prstGeom prst="rect">
            <a:avLst/>
          </a:prstGeom>
          <a:noFill/>
        </p:spPr>
        <p:txBody>
          <a:bodyPr wrap="square" rtlCol="0">
            <a:spAutoFit/>
          </a:bodyPr>
          <a:lstStyle/>
          <a:p>
            <a:pPr algn="ctr"/>
            <a:r>
              <a:rPr lang="en-US" dirty="0">
                <a:latin typeface="Abadi" panose="020F0502020204030204" pitchFamily="34" charset="0"/>
                <a:cs typeface="Abadi" panose="020F0502020204030204" pitchFamily="34" charset="0"/>
              </a:rPr>
              <a:t>10</a:t>
            </a:r>
          </a:p>
        </p:txBody>
      </p:sp>
    </p:spTree>
    <p:extLst>
      <p:ext uri="{BB962C8B-B14F-4D97-AF65-F5344CB8AC3E}">
        <p14:creationId xmlns:p14="http://schemas.microsoft.com/office/powerpoint/2010/main" val="2283624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F08D401F-F205-8780-FC16-F385531C1714}"/>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8">
            <a:extLst>
              <a:ext uri="{FF2B5EF4-FFF2-40B4-BE49-F238E27FC236}">
                <a16:creationId xmlns:a16="http://schemas.microsoft.com/office/drawing/2014/main" id="{9E7F0715-24AD-900B-5EF1-5B654B3F0FDF}"/>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6" name="Title 1">
            <a:extLst>
              <a:ext uri="{FF2B5EF4-FFF2-40B4-BE49-F238E27FC236}">
                <a16:creationId xmlns:a16="http://schemas.microsoft.com/office/drawing/2014/main" id="{C150F184-15A4-020B-FBB9-C7A72447EE1C}"/>
              </a:ext>
            </a:extLst>
          </p:cNvPr>
          <p:cNvSpPr txBox="1">
            <a:spLocks/>
          </p:cNvSpPr>
          <p:nvPr/>
        </p:nvSpPr>
        <p:spPr>
          <a:xfrm>
            <a:off x="342527" y="119232"/>
            <a:ext cx="11082218" cy="731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latin typeface="+mn-lt"/>
                <a:cs typeface="Times New Roman" panose="02020603050405020304" pitchFamily="18" charset="0"/>
              </a:rPr>
              <a:t>Future Steps</a:t>
            </a:r>
          </a:p>
        </p:txBody>
      </p:sp>
      <p:sp>
        <p:nvSpPr>
          <p:cNvPr id="2" name="TextBox 1">
            <a:extLst>
              <a:ext uri="{FF2B5EF4-FFF2-40B4-BE49-F238E27FC236}">
                <a16:creationId xmlns:a16="http://schemas.microsoft.com/office/drawing/2014/main" id="{E3D1B279-7CEF-5CFD-D60A-430054A64521}"/>
              </a:ext>
            </a:extLst>
          </p:cNvPr>
          <p:cNvSpPr txBox="1"/>
          <p:nvPr/>
        </p:nvSpPr>
        <p:spPr>
          <a:xfrm>
            <a:off x="11719034" y="6489708"/>
            <a:ext cx="472966" cy="369332"/>
          </a:xfrm>
          <a:prstGeom prst="rect">
            <a:avLst/>
          </a:prstGeom>
          <a:noFill/>
        </p:spPr>
        <p:txBody>
          <a:bodyPr wrap="square" rtlCol="0">
            <a:spAutoFit/>
          </a:bodyPr>
          <a:lstStyle/>
          <a:p>
            <a:pPr algn="ctr"/>
            <a:r>
              <a:rPr lang="en-US" dirty="0">
                <a:latin typeface="Abadi" panose="020F0502020204030204" pitchFamily="34" charset="0"/>
                <a:cs typeface="Abadi" panose="020F0502020204030204" pitchFamily="34" charset="0"/>
              </a:rPr>
              <a:t>1</a:t>
            </a:r>
            <a:r>
              <a:rPr lang="en-US" altLang="zh-CN" dirty="0">
                <a:latin typeface="Abadi" panose="020F0502020204030204" pitchFamily="34" charset="0"/>
                <a:cs typeface="Abadi" panose="020F0502020204030204" pitchFamily="34" charset="0"/>
              </a:rPr>
              <a:t>1</a:t>
            </a:r>
            <a:endParaRPr lang="en-US" dirty="0">
              <a:latin typeface="Abadi" panose="020F0502020204030204" pitchFamily="34" charset="0"/>
              <a:cs typeface="Abadi" panose="020F0502020204030204" pitchFamily="34" charset="0"/>
            </a:endParaRPr>
          </a:p>
        </p:txBody>
      </p:sp>
      <p:sp>
        <p:nvSpPr>
          <p:cNvPr id="7" name="TextBox 6">
            <a:extLst>
              <a:ext uri="{FF2B5EF4-FFF2-40B4-BE49-F238E27FC236}">
                <a16:creationId xmlns:a16="http://schemas.microsoft.com/office/drawing/2014/main" id="{7ECABE9D-BDB6-39FC-4AAB-6E7B51D3E038}"/>
              </a:ext>
            </a:extLst>
          </p:cNvPr>
          <p:cNvSpPr txBox="1"/>
          <p:nvPr/>
        </p:nvSpPr>
        <p:spPr>
          <a:xfrm>
            <a:off x="735724" y="1418897"/>
            <a:ext cx="10604938"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complete GISAID dataset from all countries will be utilized. The challenges include variations in variant naming across different countries and discrepancies in data resolution due to differing data collection methods.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Time-varying covariates and coefficients in Cox regression models will be utilized to predict a binary outcome: whether a variant will become dominant or not.</a:t>
            </a:r>
          </a:p>
        </p:txBody>
      </p:sp>
    </p:spTree>
    <p:extLst>
      <p:ext uri="{BB962C8B-B14F-4D97-AF65-F5344CB8AC3E}">
        <p14:creationId xmlns:p14="http://schemas.microsoft.com/office/powerpoint/2010/main" val="6864372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2114</TotalTime>
  <Words>1012</Words>
  <Application>Microsoft Macintosh PowerPoint</Application>
  <PresentationFormat>Widescreen</PresentationFormat>
  <Paragraphs>97</Paragraphs>
  <Slides>16</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Abadi</vt:lpstr>
      <vt:lpstr>Aptos</vt:lpstr>
      <vt:lpstr>Aptos Display</vt:lpstr>
      <vt:lpstr>Arial</vt:lpstr>
      <vt:lpstr>Times New Roman</vt:lpstr>
      <vt:lpstr>Wingdings</vt:lpstr>
      <vt:lpstr>Office Theme</vt:lpstr>
      <vt:lpstr>PowerPoint Presentation</vt:lpstr>
      <vt:lpstr>Introduction</vt:lpstr>
      <vt:lpstr>Methodology</vt:lpstr>
      <vt:lpstr>Definition of Dominance: Sum of the shares</vt:lpstr>
      <vt:lpstr>Monthly Sharing (United Kingdom) </vt:lpstr>
      <vt:lpstr>Smoothing Procedure</vt:lpstr>
      <vt:lpstr>Correlation Analysis</vt:lpstr>
      <vt:lpstr>Correlation Analysis</vt:lpstr>
      <vt:lpstr>PowerPoint Presentation</vt:lpstr>
      <vt:lpstr>Series Compression and Model Fitting</vt:lpstr>
      <vt:lpstr>PowerPoint Presentation</vt:lpstr>
      <vt:lpstr>Data Processing</vt:lpstr>
      <vt:lpstr>Data Exploration</vt:lpstr>
      <vt:lpstr>Model Exploration (R Squared)</vt:lpstr>
      <vt:lpstr>Discussion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 Franky</dc:creator>
  <cp:lastModifiedBy>Zhang, Yifan</cp:lastModifiedBy>
  <cp:revision>21</cp:revision>
  <dcterms:created xsi:type="dcterms:W3CDTF">2024-08-26T17:32:32Z</dcterms:created>
  <dcterms:modified xsi:type="dcterms:W3CDTF">2024-09-18T20:48:20Z</dcterms:modified>
</cp:coreProperties>
</file>